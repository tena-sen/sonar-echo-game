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Roboto Mono" charset="-122" pitchFamily="34"/>
      <p:regular r:id="rId18"/>
    </p:embeddedFont>
    <p:embeddedFont>
      <p:font typeface="Noto Sans SC" charset="-122" pitchFamily="34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SONAR // DEV HANDOVER // 01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cover-ring"/>
          <p:cNvSpPr/>
          <p:nvPr/>
        </p:nvSpPr>
        <p:spPr>
          <a:xfrm>
            <a:off x="10033000" y="1905000"/>
            <a:ext cx="4318000" cy="4318000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cover-inner-ring"/>
          <p:cNvSpPr/>
          <p:nvPr/>
        </p:nvSpPr>
        <p:spPr>
          <a:xfrm>
            <a:off x="11328400" y="3200400"/>
            <a:ext cx="1727200" cy="1727200"/>
          </a:xfrm>
          <a:prstGeom prst="ellipse">
            <a:avLst/>
          </a:prstGeom>
          <a:ln w="12700">
            <a:solidFill>
              <a:srgbClr val="1A202C"/>
            </a:solidFill>
            <a:prstDash val="sysDot"/>
          </a:ln>
        </p:spPr>
      </p:sp>
      <p:sp>
        <p:nvSpPr>
          <p:cNvPr id="6" name="cover-center"/>
          <p:cNvSpPr/>
          <p:nvPr/>
        </p:nvSpPr>
        <p:spPr>
          <a:xfrm>
            <a:off x="12141200" y="4013200"/>
            <a:ext cx="101600" cy="10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cover-direction"/>
          <p:cNvSpPr/>
          <p:nvPr/>
        </p:nvSpPr>
        <p:spPr>
          <a:xfrm flipV="1">
            <a:off x="13792200" y="2032000"/>
            <a:ext cx="355600" cy="355600"/>
          </a:xfrm>
          <a:prstGeom prst="lin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8" name="cover-tick-a"/>
          <p:cNvSpPr/>
          <p:nvPr/>
        </p:nvSpPr>
        <p:spPr>
          <a:xfrm>
            <a:off x="9702800" y="4038600"/>
            <a:ext cx="25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9" name="cover-tick-b"/>
          <p:cNvSpPr/>
          <p:nvPr/>
        </p:nvSpPr>
        <p:spPr>
          <a:xfrm>
            <a:off x="14351000" y="4038600"/>
            <a:ext cx="25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10" name="cover-kicker"/>
          <p:cNvSpPr/>
          <p:nvPr/>
        </p:nvSpPr>
        <p:spPr>
          <a:xfrm>
            <a:off x="1066800" y="2616200"/>
            <a:ext cx="546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TECHNICAL DELIVERY // STABLE BUILD</a:t>
            </a:r>
            <a:endParaRPr lang="en-US" sz="1200" dirty="0"/>
          </a:p>
        </p:txBody>
      </p:sp>
      <p:sp>
        <p:nvSpPr>
          <p:cNvPr id="11" name="cover-title"/>
          <p:cNvSpPr/>
          <p:nvPr/>
        </p:nvSpPr>
        <p:spPr>
          <a:xfrm>
            <a:off x="1016000" y="3124200"/>
            <a:ext cx="7747000" cy="1041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5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《回声》Sonar</a:t>
            </a:r>
            <a:endParaRPr lang="en-US" sz="5400" dirty="0"/>
          </a:p>
        </p:txBody>
      </p:sp>
      <p:sp>
        <p:nvSpPr>
          <p:cNvPr id="12" name="cover-subtitle"/>
          <p:cNvSpPr/>
          <p:nvPr/>
        </p:nvSpPr>
        <p:spPr>
          <a:xfrm>
            <a:off x="1066800" y="4445000"/>
            <a:ext cx="711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7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后续开发代理技术交接</a:t>
            </a:r>
            <a:endParaRPr lang="en-US" sz="2700" dirty="0"/>
          </a:p>
        </p:txBody>
      </p:sp>
      <p:sp>
        <p:nvSpPr>
          <p:cNvPr id="13" name="cover-copy"/>
          <p:cNvSpPr/>
          <p:nvPr/>
        </p:nvSpPr>
        <p:spPr>
          <a:xfrm>
            <a:off x="1066800" y="5410200"/>
            <a:ext cx="654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从声呐代价到双信道默契试炼：当前实现、状态边界与安全迭代路径。</a:t>
            </a:r>
            <a:endParaRPr lang="en-US" sz="1800" dirty="0"/>
          </a:p>
        </p:txBody>
      </p:sp>
      <p:sp>
        <p:nvSpPr>
          <p:cNvPr id="14" name="cover-baseline"/>
          <p:cNvSpPr/>
          <p:nvPr/>
        </p:nvSpPr>
        <p:spPr>
          <a:xfrm>
            <a:off x="1066800" y="65024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DELIVERY BASELINE // c39cd7d</a:t>
            </a:r>
            <a:endParaRPr lang="en-US" sz="1200" dirty="0"/>
          </a:p>
        </p:txBody>
      </p:sp>
      <p:sp>
        <p:nvSpPr>
          <p:cNvPr id="15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16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BUILD // SESSION-INTEGRITY HARDENED</a:t>
            </a:r>
            <a:endParaRPr lang="en-US" sz="1200" dirty="0"/>
          </a:p>
        </p:txBody>
      </p:sp>
      <p:sp>
        <p:nvSpPr>
          <p:cNvPr id="17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00 /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 LOOP // CAUSAL CONSTRAINT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// LOOP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8255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核心不是看见，而是发声的代价</a:t>
            </a:r>
            <a:endParaRPr lang="en-US" sz="3400" dirty="0"/>
          </a:p>
        </p:txBody>
      </p:sp>
      <p:sp>
        <p:nvSpPr>
          <p:cNvPr id="6" name="title-rule"/>
          <p:cNvSpPr/>
          <p:nvPr/>
        </p:nvSpPr>
        <p:spPr>
          <a:xfrm>
            <a:off x="1016000" y="2692400"/>
            <a:ext cx="660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7" name="core-thesis"/>
          <p:cNvSpPr/>
          <p:nvPr/>
        </p:nvSpPr>
        <p:spPr>
          <a:xfrm>
            <a:off x="1016000" y="3225800"/>
            <a:ext cx="6223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altLang="en-US" sz="22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每一次主声呐都同时完成两件事：把黑暗切成可读证据，也把玩家的位置交给回应者。</a:t>
            </a:r>
            <a:endParaRPr lang="en-US" sz="2200" dirty="0"/>
          </a:p>
        </p:txBody>
      </p:sp>
      <p:sp>
        <p:nvSpPr>
          <p:cNvPr id="8" name="rule-label"/>
          <p:cNvSpPr/>
          <p:nvPr/>
        </p:nvSpPr>
        <p:spPr>
          <a:xfrm>
            <a:off x="1016000" y="4800600"/>
            <a:ext cx="482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IMPLEMENTATION INVARIANTS</a:t>
            </a:r>
            <a:endParaRPr lang="en-US" sz="1200" dirty="0"/>
          </a:p>
        </p:txBody>
      </p:sp>
      <p:sp>
        <p:nvSpPr>
          <p:cNvPr id="9" name="rule-list"/>
          <p:cNvSpPr/>
          <p:nvPr/>
        </p:nvSpPr>
        <p:spPr>
          <a:xfrm>
            <a:off x="1016000" y="5207000"/>
            <a:ext cx="6604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altLang="en-US" sz="18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白环扩张后才短暂显形墙体、记录与出口。</a:t>
            </a:r>
            <a:endParaRPr lang="en-US" sz="1800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altLang="en-US" sz="18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主声呐抬升警觉，并为怪物写入调查目标。</a:t>
            </a:r>
            <a:endParaRPr lang="en-US" sz="1800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altLang="en-US" sz="18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静默、诱饵与协作只改变决策，不取消代价。</a:t>
            </a:r>
            <a:endParaRPr lang="en-US" sz="1800" dirty="0"/>
          </a:p>
        </p:txBody>
      </p:sp>
      <p:sp>
        <p:nvSpPr>
          <p:cNvPr id="10" name="sonar-ring"/>
          <p:cNvSpPr/>
          <p:nvPr/>
        </p:nvSpPr>
        <p:spPr>
          <a:xfrm>
            <a:off x="9779000" y="3238500"/>
            <a:ext cx="1905000" cy="1905000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1" name="sonar-center"/>
          <p:cNvSpPr/>
          <p:nvPr/>
        </p:nvSpPr>
        <p:spPr>
          <a:xfrm>
            <a:off x="10680700" y="4140200"/>
            <a:ext cx="101600" cy="10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onar-label"/>
          <p:cNvSpPr/>
          <p:nvPr/>
        </p:nvSpPr>
        <p:spPr>
          <a:xfrm>
            <a:off x="9486900" y="5435600"/>
            <a:ext cx="2489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4F6F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MAIN PULSE // EMIT</a:t>
            </a:r>
            <a:endParaRPr lang="en-US" sz="1200" dirty="0"/>
          </a:p>
        </p:txBody>
      </p:sp>
      <p:sp>
        <p:nvSpPr>
          <p:cNvPr id="13" name="evidence-line"/>
          <p:cNvSpPr/>
          <p:nvPr/>
        </p:nvSpPr>
        <p:spPr>
          <a:xfrm flipV="1">
            <a:off x="11684000" y="3276600"/>
            <a:ext cx="1308100" cy="584200"/>
          </a:xfrm>
          <a:prstGeom prst="line">
            <a:avLst/>
          </a:prstGeom>
          <a:ln w="12700">
            <a:solidFill>
              <a:srgbClr val="F4F6F9"/>
            </a:solidFill>
            <a:prstDash val="solid"/>
            <a:tailEnd type="triangle"/>
          </a:ln>
        </p:spPr>
      </p:sp>
      <p:sp>
        <p:nvSpPr>
          <p:cNvPr id="14" name="threat-line"/>
          <p:cNvSpPr/>
          <p:nvPr/>
        </p:nvSpPr>
        <p:spPr>
          <a:xfrm>
            <a:off x="11684000" y="4533900"/>
            <a:ext cx="1308100" cy="1219200"/>
          </a:xfrm>
          <a:prstGeom prst="line">
            <a:avLst/>
          </a:prstGeom>
          <a:ln w="12700">
            <a:solidFill>
              <a:srgbClr val="E53E3E"/>
            </a:solidFill>
            <a:prstDash val="solid"/>
            <a:tailEnd type="triangle"/>
          </a:ln>
        </p:spPr>
      </p:sp>
      <p:sp>
        <p:nvSpPr>
          <p:cNvPr id="15" name="evidence-mark"/>
          <p:cNvSpPr/>
          <p:nvPr/>
        </p:nvSpPr>
        <p:spPr>
          <a:xfrm>
            <a:off x="13208000" y="2895600"/>
            <a:ext cx="355600" cy="355600"/>
          </a:xfrm>
          <a:prstGeom prst="diamond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16" name="evidence-title"/>
          <p:cNvSpPr/>
          <p:nvPr/>
        </p:nvSpPr>
        <p:spPr>
          <a:xfrm>
            <a:off x="13766800" y="27686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F4F6F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7" name="evidence-copy"/>
          <p:cNvSpPr/>
          <p:nvPr/>
        </p:nvSpPr>
        <p:spPr>
          <a:xfrm>
            <a:off x="13766800" y="3124200"/>
            <a:ext cx="149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墙 / 记录 / 出口短暂可读</a:t>
            </a:r>
            <a:endParaRPr lang="en-US" sz="1400" dirty="0"/>
          </a:p>
        </p:txBody>
      </p:sp>
      <p:sp>
        <p:nvSpPr>
          <p:cNvPr id="18" name="threat-mark"/>
          <p:cNvSpPr/>
          <p:nvPr/>
        </p:nvSpPr>
        <p:spPr>
          <a:xfrm>
            <a:off x="13233400" y="5689600"/>
            <a:ext cx="381000" cy="9144"/>
          </a:xfrm>
          <a:prstGeom prst="line">
            <a:avLst/>
          </a:prstGeom>
          <a:ln w="38100">
            <a:solidFill>
              <a:srgbClr val="E53E3E"/>
            </a:solidFill>
            <a:prstDash val="solid"/>
          </a:ln>
        </p:spPr>
      </p:sp>
      <p:sp>
        <p:nvSpPr>
          <p:cNvPr id="19" name="threat-mark-b"/>
          <p:cNvSpPr/>
          <p:nvPr/>
        </p:nvSpPr>
        <p:spPr>
          <a:xfrm>
            <a:off x="13233400" y="5816600"/>
            <a:ext cx="254000" cy="9144"/>
          </a:xfrm>
          <a:prstGeom prst="line">
            <a:avLst/>
          </a:prstGeom>
          <a:ln w="12700">
            <a:solidFill>
              <a:srgbClr val="E53E3E"/>
            </a:solidFill>
            <a:prstDash val="solid"/>
          </a:ln>
        </p:spPr>
      </p:sp>
      <p:sp>
        <p:nvSpPr>
          <p:cNvPr id="20" name="threat-title"/>
          <p:cNvSpPr/>
          <p:nvPr/>
        </p:nvSpPr>
        <p:spPr>
          <a:xfrm>
            <a:off x="13766800" y="5397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53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EXPOSURE</a:t>
            </a:r>
            <a:endParaRPr lang="en-US" sz="1200" dirty="0"/>
          </a:p>
        </p:txBody>
      </p:sp>
      <p:sp>
        <p:nvSpPr>
          <p:cNvPr id="21" name="threat-copy"/>
          <p:cNvSpPr/>
          <p:nvPr/>
        </p:nvSpPr>
        <p:spPr>
          <a:xfrm>
            <a:off x="13766800" y="5753100"/>
            <a:ext cx="149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警觉上升 / 怪物调查 / 追猎压力</a:t>
            </a:r>
            <a:endParaRPr lang="en-US" sz="1400" dirty="0"/>
          </a:p>
        </p:txBody>
      </p:sp>
      <p:sp>
        <p:nvSpPr>
          <p:cNvPr id="22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3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INVARIANT // SOUND REVEALS AND COSTS</a:t>
            </a:r>
            <a:endParaRPr lang="en-US" sz="1200" dirty="0"/>
          </a:p>
        </p:txBody>
      </p:sp>
      <p:sp>
        <p:nvSpPr>
          <p:cNvPr id="24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DESIGN GRAMMAR // NON-NEGOTIABLES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// GRAMMAR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914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视觉与声音有严格语义边界</a:t>
            </a:r>
            <a:endParaRPr lang="en-US" sz="3400" dirty="0"/>
          </a:p>
        </p:txBody>
      </p:sp>
      <p:sp>
        <p:nvSpPr>
          <p:cNvPr id="6" name="column-rule-a"/>
          <p:cNvSpPr/>
          <p:nvPr/>
        </p:nvSpPr>
        <p:spPr>
          <a:xfrm>
            <a:off x="5461000" y="3124200"/>
            <a:ext cx="9144" cy="3784600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7" name="column-rule-b"/>
          <p:cNvSpPr/>
          <p:nvPr/>
        </p:nvSpPr>
        <p:spPr>
          <a:xfrm>
            <a:off x="10414000" y="3124200"/>
            <a:ext cx="9144" cy="3784600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8" name="color-kicker"/>
          <p:cNvSpPr/>
          <p:nvPr/>
        </p:nvSpPr>
        <p:spPr>
          <a:xfrm>
            <a:off x="1016000" y="3175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// COLOR SEMANTICS</a:t>
            </a:r>
            <a:endParaRPr lang="en-US" sz="1200" dirty="0"/>
          </a:p>
        </p:txBody>
      </p:sp>
      <p:sp>
        <p:nvSpPr>
          <p:cNvPr id="9" name="white-sample"/>
          <p:cNvSpPr/>
          <p:nvPr/>
        </p:nvSpPr>
        <p:spPr>
          <a:xfrm>
            <a:off x="1016000" y="3784600"/>
            <a:ext cx="990600" cy="9144"/>
          </a:xfrm>
          <a:prstGeom prst="line">
            <a:avLst/>
          </a:prstGeom>
          <a:ln w="38100">
            <a:solidFill>
              <a:srgbClr val="F4F6F9"/>
            </a:solidFill>
            <a:prstDash val="solid"/>
          </a:ln>
        </p:spPr>
      </p:sp>
      <p:sp>
        <p:nvSpPr>
          <p:cNvPr id="10" name="white-label"/>
          <p:cNvSpPr/>
          <p:nvPr/>
        </p:nvSpPr>
        <p:spPr>
          <a:xfrm>
            <a:off x="2260600" y="3632200"/>
            <a:ext cx="254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冷白：确认的证据</a:t>
            </a:r>
            <a:endParaRPr lang="en-US" sz="1800" dirty="0"/>
          </a:p>
        </p:txBody>
      </p:sp>
      <p:sp>
        <p:nvSpPr>
          <p:cNvPr id="11" name="red-sample"/>
          <p:cNvSpPr/>
          <p:nvPr/>
        </p:nvSpPr>
        <p:spPr>
          <a:xfrm>
            <a:off x="1016000" y="4572000"/>
            <a:ext cx="990600" cy="9144"/>
          </a:xfrm>
          <a:prstGeom prst="line">
            <a:avLst/>
          </a:prstGeom>
          <a:ln w="38100">
            <a:solidFill>
              <a:srgbClr val="E53E3E"/>
            </a:solidFill>
            <a:prstDash val="solid"/>
          </a:ln>
        </p:spPr>
      </p:sp>
      <p:sp>
        <p:nvSpPr>
          <p:cNvPr id="12" name="red-label"/>
          <p:cNvSpPr/>
          <p:nvPr/>
        </p:nvSpPr>
        <p:spPr>
          <a:xfrm>
            <a:off x="2260600" y="4419600"/>
            <a:ext cx="254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E53E3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余烬红：暴露与威胁</a:t>
            </a:r>
            <a:endParaRPr lang="en-US" sz="1800" dirty="0"/>
          </a:p>
        </p:txBody>
      </p:sp>
      <p:sp>
        <p:nvSpPr>
          <p:cNvPr id="13" name="gold-sample"/>
          <p:cNvSpPr/>
          <p:nvPr/>
        </p:nvSpPr>
        <p:spPr>
          <a:xfrm>
            <a:off x="1016000" y="5359400"/>
            <a:ext cx="990600" cy="9144"/>
          </a:xfrm>
          <a:prstGeom prst="line">
            <a:avLst/>
          </a:prstGeom>
          <a:ln w="38100">
            <a:solidFill>
              <a:srgbClr val="D4AF37"/>
            </a:solidFill>
            <a:prstDash val="solid"/>
          </a:ln>
        </p:spPr>
      </p:sp>
      <p:sp>
        <p:nvSpPr>
          <p:cNvPr id="14" name="gold-label"/>
          <p:cNvSpPr/>
          <p:nvPr/>
        </p:nvSpPr>
        <p:spPr>
          <a:xfrm>
            <a:off x="2260600" y="5207000"/>
            <a:ext cx="254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D4AF37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旧金：出口与远端方向</a:t>
            </a:r>
            <a:endParaRPr lang="en-US" sz="1800" dirty="0"/>
          </a:p>
        </p:txBody>
      </p:sp>
      <p:sp>
        <p:nvSpPr>
          <p:cNvPr id="15" name="color-note"/>
          <p:cNvSpPr/>
          <p:nvPr/>
        </p:nvSpPr>
        <p:spPr>
          <a:xfrm>
            <a:off x="1016000" y="6197600"/>
            <a:ext cx="368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绝对黑是默认状态；禁止把三种语义色变成装饰色。</a:t>
            </a:r>
            <a:endParaRPr lang="en-US" sz="1400" dirty="0"/>
          </a:p>
        </p:txBody>
      </p:sp>
      <p:sp>
        <p:nvSpPr>
          <p:cNvPr id="16" name="geometry-kicker"/>
          <p:cNvSpPr/>
          <p:nvPr/>
        </p:nvSpPr>
        <p:spPr>
          <a:xfrm>
            <a:off x="5969000" y="3175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// GEOMETRY</a:t>
            </a:r>
            <a:endParaRPr lang="en-US" sz="1200" dirty="0"/>
          </a:p>
        </p:txBody>
      </p:sp>
      <p:sp>
        <p:nvSpPr>
          <p:cNvPr id="17" name="geometry-ring"/>
          <p:cNvSpPr/>
          <p:nvPr/>
        </p:nvSpPr>
        <p:spPr>
          <a:xfrm>
            <a:off x="6667500" y="3784600"/>
            <a:ext cx="1219200" cy="1219200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8" name="geometry-center"/>
          <p:cNvSpPr/>
          <p:nvPr/>
        </p:nvSpPr>
        <p:spPr>
          <a:xfrm>
            <a:off x="7213600" y="4330700"/>
            <a:ext cx="101600" cy="10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geometry-direction"/>
          <p:cNvSpPr/>
          <p:nvPr/>
        </p:nvSpPr>
        <p:spPr>
          <a:xfrm flipV="1">
            <a:off x="7696200" y="3733800"/>
            <a:ext cx="241300" cy="241300"/>
          </a:xfrm>
          <a:prstGeom prst="lin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20" name="geometry-label"/>
          <p:cNvSpPr/>
          <p:nvPr/>
        </p:nvSpPr>
        <p:spPr>
          <a:xfrm>
            <a:off x="5969000" y="5283200"/>
            <a:ext cx="35052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完整环：仅属于主动声呐</a:t>
            </a:r>
            <a:endParaRPr lang="en-US" sz="1800" dirty="0"/>
          </a:p>
        </p:txBody>
      </p:sp>
      <p:sp>
        <p:nvSpPr>
          <p:cNvPr id="21" name="geometry-note"/>
          <p:cNvSpPr/>
          <p:nvPr/>
        </p:nvSpPr>
        <p:spPr>
          <a:xfrm>
            <a:off x="5969000" y="5842000"/>
            <a:ext cx="3683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墙体、触点和标记必须是断续证据。中心点 + 右上缺口 + 方向短线是设备身份。</a:t>
            </a:r>
            <a:endParaRPr lang="en-US" sz="1400" dirty="0"/>
          </a:p>
        </p:txBody>
      </p:sp>
      <p:sp>
        <p:nvSpPr>
          <p:cNvPr id="22" name="audio-kicker"/>
          <p:cNvSpPr/>
          <p:nvPr/>
        </p:nvSpPr>
        <p:spPr>
          <a:xfrm>
            <a:off x="10922000" y="3175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// SOUND FIELD</a:t>
            </a:r>
            <a:endParaRPr lang="en-US" sz="1200" dirty="0"/>
          </a:p>
        </p:txBody>
      </p:sp>
      <p:sp>
        <p:nvSpPr>
          <p:cNvPr id="23" name="audio-line-a"/>
          <p:cNvSpPr/>
          <p:nvPr/>
        </p:nvSpPr>
        <p:spPr>
          <a:xfrm>
            <a:off x="10922000" y="3886200"/>
            <a:ext cx="2032000" cy="9144"/>
          </a:xfrm>
          <a:prstGeom prst="line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24" name="audio-line-b"/>
          <p:cNvSpPr/>
          <p:nvPr/>
        </p:nvSpPr>
        <p:spPr>
          <a:xfrm>
            <a:off x="10922000" y="4216400"/>
            <a:ext cx="1498600" cy="9144"/>
          </a:xfrm>
          <a:prstGeom prst="line">
            <a:avLst/>
          </a:prstGeom>
          <a:ln w="12700">
            <a:solidFill>
              <a:srgbClr val="8A9BAE"/>
            </a:solidFill>
            <a:prstDash val="solid"/>
          </a:ln>
        </p:spPr>
      </p:sp>
      <p:sp>
        <p:nvSpPr>
          <p:cNvPr id="25" name="audio-line-c"/>
          <p:cNvSpPr/>
          <p:nvPr/>
        </p:nvSpPr>
        <p:spPr>
          <a:xfrm>
            <a:off x="10922000" y="4546600"/>
            <a:ext cx="1092200" cy="9144"/>
          </a:xfrm>
          <a:prstGeom prst="line">
            <a:avLst/>
          </a:prstGeom>
          <a:ln w="12700">
            <a:solidFill>
              <a:srgbClr val="E53E3E"/>
            </a:solidFill>
            <a:prstDash val="solid"/>
          </a:ln>
        </p:spPr>
      </p:sp>
      <p:sp>
        <p:nvSpPr>
          <p:cNvPr id="26" name="audio-label"/>
          <p:cNvSpPr/>
          <p:nvPr/>
        </p:nvSpPr>
        <p:spPr>
          <a:xfrm>
            <a:off x="10922000" y="5118100"/>
            <a:ext cx="3683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非语言化空间声优先</a:t>
            </a:r>
            <a:endParaRPr lang="en-US" sz="1800" dirty="0"/>
          </a:p>
        </p:txBody>
      </p:sp>
      <p:sp>
        <p:nvSpPr>
          <p:cNvPr id="27" name="audio-note"/>
          <p:cNvSpPr/>
          <p:nvPr/>
        </p:nvSpPr>
        <p:spPr>
          <a:xfrm>
            <a:off x="10922000" y="56896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低频床、尘噪、怪物声纹、方向联络与校准都由 Web Audio 合成；保留静音、耳机校准和减少动态支持。</a:t>
            </a:r>
            <a:endParaRPr lang="en-US" sz="1400" dirty="0"/>
          </a:p>
        </p:txBody>
      </p:sp>
      <p:sp>
        <p:nvSpPr>
          <p:cNvPr id="28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9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RULE // EVIDENCE IS SCARCE</a:t>
            </a:r>
            <a:endParaRPr lang="en-US" sz="1200" dirty="0"/>
          </a:p>
        </p:txBody>
      </p:sp>
      <p:sp>
        <p:nvSpPr>
          <p:cNvPr id="30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482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ARCHITECTURE // STATIC SHELL / GAME CORE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// SYSTEM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9906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一个静态外壳承载一个完整游戏体</a:t>
            </a:r>
            <a:endParaRPr lang="en-US" sz="3400" dirty="0"/>
          </a:p>
        </p:txBody>
      </p:sp>
      <p:sp>
        <p:nvSpPr>
          <p:cNvPr id="6" name="shell-label"/>
          <p:cNvSpPr/>
          <p:nvPr/>
        </p:nvSpPr>
        <p:spPr>
          <a:xfrm>
            <a:off x="1016000" y="2794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FORMAL ENTRY LAYER</a:t>
            </a:r>
            <a:endParaRPr lang="en-US" sz="1200" dirty="0"/>
          </a:p>
        </p:txBody>
      </p:sp>
      <p:sp>
        <p:nvSpPr>
          <p:cNvPr id="7" name="shell-line"/>
          <p:cNvSpPr/>
          <p:nvPr/>
        </p:nvSpPr>
        <p:spPr>
          <a:xfrm>
            <a:off x="1016000" y="332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8" name="react-shell"/>
          <p:cNvSpPr/>
          <p:nvPr/>
        </p:nvSpPr>
        <p:spPr>
          <a:xfrm>
            <a:off x="1270000" y="3581400"/>
            <a:ext cx="292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React / Vite 全屏外壳</a:t>
            </a:r>
            <a:endParaRPr lang="en-US" sz="1800" dirty="0"/>
          </a:p>
        </p:txBody>
      </p:sp>
      <p:sp>
        <p:nvSpPr>
          <p:cNvPr id="9" name="query-shell"/>
          <p:cNvSpPr/>
          <p:nvPr/>
        </p:nvSpPr>
        <p:spPr>
          <a:xfrm>
            <a:off x="5715000" y="3581400"/>
            <a:ext cx="285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白名单查询隔离</a:t>
            </a:r>
            <a:endParaRPr lang="en-US" sz="1800" dirty="0"/>
          </a:p>
        </p:txBody>
      </p:sp>
      <p:sp>
        <p:nvSpPr>
          <p:cNvPr id="10" name="focus-shell"/>
          <p:cNvSpPr/>
          <p:nvPr/>
        </p:nvSpPr>
        <p:spPr>
          <a:xfrm>
            <a:off x="10160000" y="3581400"/>
            <a:ext cx="342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iframe 与 Canvas 焦点交接</a:t>
            </a:r>
            <a:endParaRPr lang="en-US" sz="1800" dirty="0"/>
          </a:p>
        </p:txBody>
      </p:sp>
      <p:sp>
        <p:nvSpPr>
          <p:cNvPr id="11" name="arrow-to-core"/>
          <p:cNvSpPr/>
          <p:nvPr/>
        </p:nvSpPr>
        <p:spPr>
          <a:xfrm>
            <a:off x="8128000" y="4076700"/>
            <a:ext cx="9144" cy="533400"/>
          </a:xfrm>
          <a:prstGeom prst="line">
            <a:avLst/>
          </a:prstGeom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2" name="core-label"/>
          <p:cNvSpPr/>
          <p:nvPr/>
        </p:nvSpPr>
        <p:spPr>
          <a:xfrm>
            <a:off x="5867400" y="4775200"/>
            <a:ext cx="4508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SINGLE HTML // SOURCE OF TRUTH</a:t>
            </a:r>
            <a:endParaRPr lang="en-US" sz="1300" dirty="0"/>
          </a:p>
        </p:txBody>
      </p:sp>
      <p:sp>
        <p:nvSpPr>
          <p:cNvPr id="13" name="core-frame-top"/>
          <p:cNvSpPr/>
          <p:nvPr/>
        </p:nvSpPr>
        <p:spPr>
          <a:xfrm>
            <a:off x="2413000" y="5283200"/>
            <a:ext cx="9779000" cy="9144"/>
          </a:xfrm>
          <a:prstGeom prst="line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14" name="core-title"/>
          <p:cNvSpPr/>
          <p:nvPr/>
        </p:nvSpPr>
        <p:spPr>
          <a:xfrm>
            <a:off x="2667000" y="5562600"/>
            <a:ext cx="889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Canvas · 状态机 · 输入 · Web Audio · 存储 · 绘制</a:t>
            </a:r>
            <a:endParaRPr lang="en-US" sz="2400" dirty="0"/>
          </a:p>
        </p:txBody>
      </p:sp>
      <p:sp>
        <p:nvSpPr>
          <p:cNvPr id="15" name="core-frame-bottom"/>
          <p:cNvSpPr/>
          <p:nvPr/>
        </p:nvSpPr>
        <p:spPr>
          <a:xfrm>
            <a:off x="2413000" y="6197600"/>
            <a:ext cx="9779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16" name="runtime-label"/>
          <p:cNvSpPr/>
          <p:nvPr/>
        </p:nvSpPr>
        <p:spPr>
          <a:xfrm>
            <a:off x="1016000" y="67310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RUNTIME CLUSTERS</a:t>
            </a:r>
            <a:endParaRPr lang="en-US" sz="1200" dirty="0"/>
          </a:p>
        </p:txBody>
      </p:sp>
      <p:sp>
        <p:nvSpPr>
          <p:cNvPr id="17" name="runtime-rule-a"/>
          <p:cNvSpPr/>
          <p:nvPr/>
        </p:nvSpPr>
        <p:spPr>
          <a:xfrm>
            <a:off x="1016000" y="7112000"/>
            <a:ext cx="11176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18" name="runtime-state"/>
          <p:cNvSpPr/>
          <p:nvPr/>
        </p:nvSpPr>
        <p:spPr>
          <a:xfrm>
            <a:off x="1016000" y="73914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状态与章节流</a:t>
            </a:r>
            <a:endParaRPr lang="en-US" sz="1600" dirty="0"/>
          </a:p>
        </p:txBody>
      </p:sp>
      <p:sp>
        <p:nvSpPr>
          <p:cNvPr id="19" name="runtime-input"/>
          <p:cNvSpPr/>
          <p:nvPr/>
        </p:nvSpPr>
        <p:spPr>
          <a:xfrm>
            <a:off x="3873500" y="7391400"/>
            <a:ext cx="241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输入与焦点</a:t>
            </a:r>
            <a:endParaRPr lang="en-US" sz="1600" dirty="0"/>
          </a:p>
        </p:txBody>
      </p:sp>
      <p:sp>
        <p:nvSpPr>
          <p:cNvPr id="20" name="runtime-audio"/>
          <p:cNvSpPr/>
          <p:nvPr/>
        </p:nvSpPr>
        <p:spPr>
          <a:xfrm>
            <a:off x="6731000" y="7391400"/>
            <a:ext cx="241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声场与威胁</a:t>
            </a:r>
            <a:endParaRPr lang="en-US" sz="1600" dirty="0"/>
          </a:p>
        </p:txBody>
      </p:sp>
      <p:sp>
        <p:nvSpPr>
          <p:cNvPr id="21" name="runtime-store"/>
          <p:cNvSpPr/>
          <p:nvPr/>
        </p:nvSpPr>
        <p:spPr>
          <a:xfrm>
            <a:off x="9588500" y="7391400"/>
            <a:ext cx="2603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档案与本地存储</a:t>
            </a:r>
            <a:endParaRPr lang="en-US" sz="1600" dirty="0"/>
          </a:p>
        </p:txBody>
      </p:sp>
      <p:sp>
        <p:nvSpPr>
          <p:cNvPr id="22" name="risk-label"/>
          <p:cNvSpPr/>
          <p:nvPr/>
        </p:nvSpPr>
        <p:spPr>
          <a:xfrm>
            <a:off x="12890500" y="4826000"/>
            <a:ext cx="209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53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MODIFY RISK // HIGH</a:t>
            </a:r>
            <a:endParaRPr lang="en-US" sz="1200" dirty="0"/>
          </a:p>
        </p:txBody>
      </p:sp>
      <p:sp>
        <p:nvSpPr>
          <p:cNvPr id="23" name="risk-line"/>
          <p:cNvSpPr/>
          <p:nvPr/>
        </p:nvSpPr>
        <p:spPr>
          <a:xfrm>
            <a:off x="12890500" y="5257800"/>
            <a:ext cx="1651000" cy="9144"/>
          </a:xfrm>
          <a:prstGeom prst="line">
            <a:avLst/>
          </a:prstGeom>
          <a:ln w="12700">
            <a:solidFill>
              <a:srgbClr val="E53E3E"/>
            </a:solidFill>
            <a:prstDash val="solid"/>
          </a:ln>
        </p:spPr>
      </p:sp>
      <p:sp>
        <p:nvSpPr>
          <p:cNvPr id="24" name="risk-copy"/>
          <p:cNvSpPr/>
          <p:nvPr/>
        </p:nvSpPr>
        <p:spPr>
          <a:xfrm>
            <a:off x="12890500" y="5511800"/>
            <a:ext cx="2159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内联脚本不由 TypeScript 检查。每次改动必须先完成抽取解析，再进入构建与浏览器验证。</a:t>
            </a:r>
            <a:endParaRPr lang="en-US" sz="1400" dirty="0"/>
          </a:p>
        </p:txBody>
      </p:sp>
      <p:sp>
        <p:nvSpPr>
          <p:cNvPr id="25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6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SOURCE // SINGLE-FILE CANVAS GAME</a:t>
            </a:r>
            <a:endParaRPr lang="en-US" sz="1200" dirty="0"/>
          </a:p>
        </p:txBody>
      </p:sp>
      <p:sp>
        <p:nvSpPr>
          <p:cNvPr id="27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STATE FLOW // ENTRY / OVERLAYS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165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// PATHS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9525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两条接入路径共享一套章节世界</a:t>
            </a:r>
            <a:endParaRPr lang="en-US" sz="3400" dirty="0"/>
          </a:p>
        </p:txBody>
      </p:sp>
      <p:sp>
        <p:nvSpPr>
          <p:cNvPr id="6" name="solo-kicker"/>
          <p:cNvSpPr/>
          <p:nvPr/>
        </p:nvSpPr>
        <p:spPr>
          <a:xfrm>
            <a:off x="1270000" y="2997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// SOLO LISTENING</a:t>
            </a:r>
            <a:endParaRPr lang="en-US" sz="1200" dirty="0"/>
          </a:p>
        </p:txBody>
      </p:sp>
      <p:sp>
        <p:nvSpPr>
          <p:cNvPr id="7" name="solo-a"/>
          <p:cNvSpPr/>
          <p:nvPr/>
        </p:nvSpPr>
        <p:spPr>
          <a:xfrm>
            <a:off x="1270000" y="3530600"/>
            <a:ext cx="317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模式选择 → 接通校验</a:t>
            </a:r>
            <a:endParaRPr lang="en-US" sz="1800" dirty="0"/>
          </a:p>
        </p:txBody>
      </p:sp>
      <p:sp>
        <p:nvSpPr>
          <p:cNvPr id="8" name="solo-line-a"/>
          <p:cNvSpPr/>
          <p:nvPr/>
        </p:nvSpPr>
        <p:spPr>
          <a:xfrm>
            <a:off x="2832100" y="3962400"/>
            <a:ext cx="9144" cy="457200"/>
          </a:xfrm>
          <a:prstGeom prst="line">
            <a:avLst/>
          </a:prstGeom>
          <a:ln w="12700">
            <a:solidFill>
              <a:srgbClr val="8A9BAE"/>
            </a:solidFill>
            <a:prstDash val="solid"/>
            <a:tailEnd type="triangle"/>
          </a:ln>
        </p:spPr>
      </p:sp>
      <p:sp>
        <p:nvSpPr>
          <p:cNvPr id="9" name="solo-b"/>
          <p:cNvSpPr/>
          <p:nvPr/>
        </p:nvSpPr>
        <p:spPr>
          <a:xfrm>
            <a:off x="1270000" y="4597400"/>
            <a:ext cx="330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苏醒 → 移动校准 → 首次回声</a:t>
            </a:r>
            <a:endParaRPr lang="en-US" sz="1800" dirty="0"/>
          </a:p>
        </p:txBody>
      </p:sp>
      <p:sp>
        <p:nvSpPr>
          <p:cNvPr id="10" name="solo-line-b"/>
          <p:cNvSpPr/>
          <p:nvPr/>
        </p:nvSpPr>
        <p:spPr>
          <a:xfrm>
            <a:off x="2832100" y="5029200"/>
            <a:ext cx="9144" cy="457200"/>
          </a:xfrm>
          <a:prstGeom prst="line">
            <a:avLst/>
          </a:prstGeom>
          <a:ln w="12700">
            <a:solidFill>
              <a:srgbClr val="8A9BAE"/>
            </a:solidFill>
            <a:prstDash val="solid"/>
            <a:tailEnd type="triangle"/>
          </a:ln>
        </p:spPr>
      </p:sp>
      <p:sp>
        <p:nvSpPr>
          <p:cNvPr id="11" name="solo-c"/>
          <p:cNvSpPr/>
          <p:nvPr/>
        </p:nvSpPr>
        <p:spPr>
          <a:xfrm>
            <a:off x="1270000" y="5664200"/>
            <a:ext cx="311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异常回应 → 章节 I</a:t>
            </a:r>
            <a:endParaRPr lang="en-US" sz="1800" dirty="0"/>
          </a:p>
        </p:txBody>
      </p:sp>
      <p:sp>
        <p:nvSpPr>
          <p:cNvPr id="12" name="link-kicker"/>
          <p:cNvSpPr/>
          <p:nvPr/>
        </p:nvSpPr>
        <p:spPr>
          <a:xfrm>
            <a:off x="6540500" y="3111500"/>
            <a:ext cx="3238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980ms // LINK VERIFICATION</a:t>
            </a:r>
            <a:endParaRPr lang="en-US" sz="1200" dirty="0"/>
          </a:p>
        </p:txBody>
      </p:sp>
      <p:sp>
        <p:nvSpPr>
          <p:cNvPr id="13" name="link-ring"/>
          <p:cNvSpPr/>
          <p:nvPr/>
        </p:nvSpPr>
        <p:spPr>
          <a:xfrm>
            <a:off x="7150100" y="3657600"/>
            <a:ext cx="2032000" cy="2032000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4" name="link-center"/>
          <p:cNvSpPr/>
          <p:nvPr/>
        </p:nvSpPr>
        <p:spPr>
          <a:xfrm>
            <a:off x="8115300" y="4622800"/>
            <a:ext cx="101600" cy="10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link-out-left"/>
          <p:cNvSpPr/>
          <p:nvPr/>
        </p:nvSpPr>
        <p:spPr>
          <a:xfrm flipH="1">
            <a:off x="6007100" y="4673600"/>
            <a:ext cx="1143000" cy="9144"/>
          </a:xfrm>
          <a:prstGeom prst="line">
            <a:avLst/>
          </a:prstGeom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6" name="link-out-right"/>
          <p:cNvSpPr/>
          <p:nvPr/>
        </p:nvSpPr>
        <p:spPr>
          <a:xfrm>
            <a:off x="9182100" y="4673600"/>
            <a:ext cx="1143000" cy="9144"/>
          </a:xfrm>
          <a:prstGeom prst="line">
            <a:avLst/>
          </a:prstGeom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7" name="coop-kicker"/>
          <p:cNvSpPr/>
          <p:nvPr/>
        </p:nvSpPr>
        <p:spPr>
          <a:xfrm>
            <a:off x="10985500" y="2997200"/>
            <a:ext cx="292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// DUAL CHANNEL</a:t>
            </a:r>
            <a:endParaRPr lang="en-US" sz="1200" dirty="0"/>
          </a:p>
        </p:txBody>
      </p:sp>
      <p:sp>
        <p:nvSpPr>
          <p:cNvPr id="18" name="coop-a"/>
          <p:cNvSpPr/>
          <p:nvPr/>
        </p:nvSpPr>
        <p:spPr>
          <a:xfrm>
            <a:off x="10985500" y="3530600"/>
            <a:ext cx="3619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模式选择 → 接通校验</a:t>
            </a:r>
            <a:endParaRPr lang="en-US" sz="1800" dirty="0"/>
          </a:p>
        </p:txBody>
      </p:sp>
      <p:sp>
        <p:nvSpPr>
          <p:cNvPr id="19" name="coop-line-a"/>
          <p:cNvSpPr/>
          <p:nvPr/>
        </p:nvSpPr>
        <p:spPr>
          <a:xfrm>
            <a:off x="12573000" y="3962400"/>
            <a:ext cx="9144" cy="457200"/>
          </a:xfrm>
          <a:prstGeom prst="line">
            <a:avLst/>
          </a:prstGeom>
          <a:ln w="12700">
            <a:solidFill>
              <a:srgbClr val="8A9BAE"/>
            </a:solidFill>
            <a:prstDash val="solid"/>
            <a:tailEnd type="triangle"/>
          </a:ln>
        </p:spPr>
      </p:sp>
      <p:sp>
        <p:nvSpPr>
          <p:cNvPr id="20" name="coop-b"/>
          <p:cNvSpPr/>
          <p:nvPr/>
        </p:nvSpPr>
        <p:spPr>
          <a:xfrm>
            <a:off x="10985500" y="45974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P1 / P2 职责校准 → 待玩章节</a:t>
            </a:r>
            <a:endParaRPr lang="en-US" sz="1800" dirty="0"/>
          </a:p>
        </p:txBody>
      </p:sp>
      <p:sp>
        <p:nvSpPr>
          <p:cNvPr id="21" name="coop-line-b"/>
          <p:cNvSpPr/>
          <p:nvPr/>
        </p:nvSpPr>
        <p:spPr>
          <a:xfrm>
            <a:off x="12573000" y="5029200"/>
            <a:ext cx="9144" cy="457200"/>
          </a:xfrm>
          <a:prstGeom prst="line">
            <a:avLst/>
          </a:prstGeom>
          <a:ln w="12700">
            <a:solidFill>
              <a:srgbClr val="8A9BAE"/>
            </a:solidFill>
            <a:prstDash val="solid"/>
            <a:tailEnd type="triangle"/>
          </a:ln>
        </p:spPr>
      </p:sp>
      <p:sp>
        <p:nvSpPr>
          <p:cNvPr id="22" name="coop-c"/>
          <p:cNvSpPr/>
          <p:nvPr/>
        </p:nvSpPr>
        <p:spPr>
          <a:xfrm>
            <a:off x="10985500" y="5664200"/>
            <a:ext cx="3619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双人章节 I–IV → CR 终局</a:t>
            </a:r>
            <a:endParaRPr lang="en-US" sz="1800" dirty="0"/>
          </a:p>
        </p:txBody>
      </p:sp>
      <p:sp>
        <p:nvSpPr>
          <p:cNvPr id="23" name="overlay-rule"/>
          <p:cNvSpPr/>
          <p:nvPr/>
        </p:nvSpPr>
        <p:spPr>
          <a:xfrm>
            <a:off x="1016000" y="67945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4" name="overlay-kicker"/>
          <p:cNvSpPr/>
          <p:nvPr/>
        </p:nvSpPr>
        <p:spPr>
          <a:xfrm>
            <a:off x="1016000" y="7048500"/>
            <a:ext cx="349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53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OVERLAY BOUNDARY // CLEAR INPUT</a:t>
            </a:r>
            <a:endParaRPr lang="en-US" sz="1200" dirty="0"/>
          </a:p>
        </p:txBody>
      </p:sp>
      <p:sp>
        <p:nvSpPr>
          <p:cNvPr id="25" name="overlay-items"/>
          <p:cNvSpPr/>
          <p:nvPr/>
        </p:nvSpPr>
        <p:spPr>
          <a:xfrm>
            <a:off x="1016000" y="7467600"/>
            <a:ext cx="1371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设备档案　/　章节回放　/　监听设置　/　中止确认</a:t>
            </a:r>
            <a:endParaRPr lang="en-US" sz="1800" dirty="0"/>
          </a:p>
        </p:txBody>
      </p:sp>
      <p:sp>
        <p:nvSpPr>
          <p:cNvPr id="26" name="overlay-note"/>
          <p:cNvSpPr/>
          <p:nvPr/>
        </p:nvSpPr>
        <p:spPr>
          <a:xfrm>
            <a:off x="10160000" y="74676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进入覆盖层清空按键；返回时重新聚焦 Canvas。</a:t>
            </a:r>
            <a:endParaRPr lang="en-US" sz="1400" dirty="0"/>
          </a:p>
        </p:txBody>
      </p:sp>
      <p:sp>
        <p:nvSpPr>
          <p:cNvPr id="27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8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STATE // EXPLICIT TRANSITIONS ONLY</a:t>
            </a:r>
            <a:endParaRPr lang="en-US" sz="1200" dirty="0"/>
          </a:p>
        </p:txBody>
      </p:sp>
      <p:sp>
        <p:nvSpPr>
          <p:cNvPr id="29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LOCAL CO-OP // ASYMMETRIC CHANNELS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165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 // CO-OP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965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双人模式把信息不对称变成协作</a:t>
            </a:r>
            <a:endParaRPr lang="en-US" sz="3400" dirty="0"/>
          </a:p>
        </p:txBody>
      </p:sp>
      <p:sp>
        <p:nvSpPr>
          <p:cNvPr id="6" name="role-rule"/>
          <p:cNvSpPr/>
          <p:nvPr/>
        </p:nvSpPr>
        <p:spPr>
          <a:xfrm>
            <a:off x="8128000" y="3022600"/>
            <a:ext cx="9144" cy="3175000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7" name="p1-kicker"/>
          <p:cNvSpPr/>
          <p:nvPr/>
        </p:nvSpPr>
        <p:spPr>
          <a:xfrm>
            <a:off x="1651000" y="29718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CHANNEL 01 // P1</a:t>
            </a:r>
            <a:endParaRPr lang="en-US" sz="1200" dirty="0"/>
          </a:p>
        </p:txBody>
      </p:sp>
      <p:sp>
        <p:nvSpPr>
          <p:cNvPr id="8" name="p1-ring"/>
          <p:cNvSpPr/>
          <p:nvPr/>
        </p:nvSpPr>
        <p:spPr>
          <a:xfrm>
            <a:off x="1651000" y="3530600"/>
            <a:ext cx="1397000" cy="1397000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p1-center"/>
          <p:cNvSpPr/>
          <p:nvPr/>
        </p:nvSpPr>
        <p:spPr>
          <a:xfrm>
            <a:off x="2298700" y="4178300"/>
            <a:ext cx="101600" cy="10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p1-exposure"/>
          <p:cNvSpPr/>
          <p:nvPr/>
        </p:nvSpPr>
        <p:spPr>
          <a:xfrm>
            <a:off x="1943100" y="5092700"/>
            <a:ext cx="812800" cy="9144"/>
          </a:xfrm>
          <a:prstGeom prst="line">
            <a:avLst/>
          </a:prstGeom>
          <a:ln w="25400">
            <a:solidFill>
              <a:srgbClr val="E53E3E"/>
            </a:solidFill>
            <a:prstDash val="solid"/>
          </a:ln>
        </p:spPr>
      </p:sp>
      <p:sp>
        <p:nvSpPr>
          <p:cNvPr id="11" name="p1-title"/>
          <p:cNvSpPr/>
          <p:nvPr/>
        </p:nvSpPr>
        <p:spPr>
          <a:xfrm>
            <a:off x="3619500" y="34798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探路回路</a:t>
            </a:r>
            <a:endParaRPr lang="en-US" sz="2400" dirty="0"/>
          </a:p>
        </p:txBody>
      </p:sp>
      <p:sp>
        <p:nvSpPr>
          <p:cNvPr id="12" name="p1-role"/>
          <p:cNvSpPr/>
          <p:nvPr/>
        </p:nvSpPr>
        <p:spPr>
          <a:xfrm>
            <a:off x="3619500" y="4064000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1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移动、主声呐、外置诱饵。</a:t>
            </a:r>
            <a:endParaRPr lang="en-US" sz="1700" dirty="0"/>
          </a:p>
          <a:p>
            <a:pPr algn="l" indent="0" marL="0">
              <a:lnSpc>
                <a:spcPts val="251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确认环境，也承担暴露与引怪风险。</a:t>
            </a:r>
            <a:endParaRPr lang="en-US" sz="1700" dirty="0"/>
          </a:p>
          <a:p>
            <a:pPr algn="l" indent="0" marL="0">
              <a:lnSpc>
                <a:spcPts val="2516"/>
              </a:lnSpc>
              <a:buNone/>
            </a:pPr>
            <a:r>
              <a:rPr lang="en-US" altLang="en-US" sz="1700" dirty="0">
                <a:solidFill>
                  <a:srgbClr val="E53E3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主声呐是团队的高成本信息源。</a:t>
            </a:r>
            <a:endParaRPr lang="en-US" sz="1700" dirty="0"/>
          </a:p>
        </p:txBody>
      </p:sp>
      <p:sp>
        <p:nvSpPr>
          <p:cNvPr id="13" name="sync-kicker"/>
          <p:cNvSpPr/>
          <p:nvPr/>
        </p:nvSpPr>
        <p:spPr>
          <a:xfrm>
            <a:off x="7086600" y="3556000"/>
            <a:ext cx="209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ARRAY // SYNC</a:t>
            </a:r>
            <a:endParaRPr lang="en-US" sz="1100" dirty="0"/>
          </a:p>
        </p:txBody>
      </p:sp>
      <p:sp>
        <p:nvSpPr>
          <p:cNvPr id="14" name="sync-line-a"/>
          <p:cNvSpPr/>
          <p:nvPr/>
        </p:nvSpPr>
        <p:spPr>
          <a:xfrm>
            <a:off x="7048500" y="4191000"/>
            <a:ext cx="939800" cy="9144"/>
          </a:xfrm>
          <a:prstGeom prst="line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15" name="sync-line-b"/>
          <p:cNvSpPr/>
          <p:nvPr/>
        </p:nvSpPr>
        <p:spPr>
          <a:xfrm>
            <a:off x="8280400" y="4191000"/>
            <a:ext cx="939800" cy="9144"/>
          </a:xfrm>
          <a:prstGeom prst="line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16" name="sync-point"/>
          <p:cNvSpPr/>
          <p:nvPr/>
        </p:nvSpPr>
        <p:spPr>
          <a:xfrm>
            <a:off x="8064500" y="4127500"/>
            <a:ext cx="127000" cy="127000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17" name="sync-copy"/>
          <p:cNvSpPr/>
          <p:nvPr/>
        </p:nvSpPr>
        <p:spPr>
          <a:xfrm>
            <a:off x="6959600" y="4635500"/>
            <a:ext cx="234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沟通不是提示层；它是对未知声源的共同判断。</a:t>
            </a:r>
            <a:endParaRPr lang="en-US" sz="1400" dirty="0"/>
          </a:p>
        </p:txBody>
      </p:sp>
      <p:sp>
        <p:nvSpPr>
          <p:cNvPr id="18" name="p2-kicker"/>
          <p:cNvSpPr/>
          <p:nvPr/>
        </p:nvSpPr>
        <p:spPr>
          <a:xfrm>
            <a:off x="11112500" y="29718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CHANNEL 02 // P2</a:t>
            </a:r>
            <a:endParaRPr lang="en-US" sz="1200" dirty="0"/>
          </a:p>
        </p:txBody>
      </p:sp>
      <p:sp>
        <p:nvSpPr>
          <p:cNvPr id="19" name="p2-mark-a"/>
          <p:cNvSpPr/>
          <p:nvPr/>
        </p:nvSpPr>
        <p:spPr>
          <a:xfrm>
            <a:off x="11112500" y="3937000"/>
            <a:ext cx="7366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20" name="p2-mark-b"/>
          <p:cNvSpPr/>
          <p:nvPr/>
        </p:nvSpPr>
        <p:spPr>
          <a:xfrm>
            <a:off x="11112500" y="4191000"/>
            <a:ext cx="482600" cy="9144"/>
          </a:xfrm>
          <a:prstGeom prst="line">
            <a:avLst/>
          </a:prstGeom>
          <a:ln w="12700">
            <a:solidFill>
              <a:srgbClr val="8A9BAE"/>
            </a:solidFill>
            <a:prstDash val="solid"/>
          </a:ln>
        </p:spPr>
      </p:sp>
      <p:sp>
        <p:nvSpPr>
          <p:cNvPr id="21" name="p2-mark-c"/>
          <p:cNvSpPr/>
          <p:nvPr/>
        </p:nvSpPr>
        <p:spPr>
          <a:xfrm>
            <a:off x="11430000" y="4445000"/>
            <a:ext cx="88900" cy="88900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22" name="p2-title"/>
          <p:cNvSpPr/>
          <p:nvPr/>
        </p:nvSpPr>
        <p:spPr>
          <a:xfrm>
            <a:off x="12128500" y="34798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解码回路</a:t>
            </a:r>
            <a:endParaRPr lang="en-US" sz="2400" dirty="0"/>
          </a:p>
        </p:txBody>
      </p:sp>
      <p:sp>
        <p:nvSpPr>
          <p:cNvPr id="23" name="p2-role"/>
          <p:cNvSpPr/>
          <p:nvPr/>
        </p:nvSpPr>
        <p:spPr>
          <a:xfrm>
            <a:off x="12128500" y="4064000"/>
            <a:ext cx="311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1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移动、短程解析、恢复章节记录。</a:t>
            </a:r>
            <a:endParaRPr lang="en-US" sz="1700" dirty="0"/>
          </a:p>
          <a:p>
            <a:pPr algn="l" indent="0" marL="0">
              <a:lnSpc>
                <a:spcPts val="251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解析不引怪，但必须靠近目标判断。</a:t>
            </a:r>
            <a:endParaRPr lang="en-US" sz="1700" dirty="0"/>
          </a:p>
          <a:p>
            <a:pPr algn="l" indent="0" marL="0">
              <a:lnSpc>
                <a:spcPts val="2516"/>
              </a:lnSpc>
              <a:buNone/>
            </a:pPr>
            <a:r>
              <a:rPr lang="en-US" altLang="en-US" sz="17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只有 P2 能完成记录恢复。</a:t>
            </a:r>
            <a:endParaRPr lang="en-US" sz="1700" dirty="0"/>
          </a:p>
        </p:txBody>
      </p:sp>
      <p:sp>
        <p:nvSpPr>
          <p:cNvPr id="24" name="bottom-rule"/>
          <p:cNvSpPr/>
          <p:nvPr/>
        </p:nvSpPr>
        <p:spPr>
          <a:xfrm>
            <a:off x="1016000" y="66675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5" name="bottom-label"/>
          <p:cNvSpPr/>
          <p:nvPr/>
        </p:nvSpPr>
        <p:spPr>
          <a:xfrm>
            <a:off x="1016000" y="6985000"/>
            <a:ext cx="292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CO-OP FAILURE / RECOVERY</a:t>
            </a:r>
            <a:endParaRPr lang="en-US" sz="1200" dirty="0"/>
          </a:p>
        </p:txBody>
      </p:sp>
      <p:sp>
        <p:nvSpPr>
          <p:cNvPr id="26" name="bottom-copy"/>
          <p:cNvSpPr/>
          <p:nvPr/>
        </p:nvSpPr>
        <p:spPr>
          <a:xfrm>
            <a:off x="1016000" y="74295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任一人倒地后，伙伴在 6.8 秒内邻近重连；相距过远时有真实队友方位与单侧低频联络；出口要求两人共同抵达。</a:t>
            </a:r>
            <a:endParaRPr lang="en-US" sz="1800" dirty="0"/>
          </a:p>
        </p:txBody>
      </p:sp>
      <p:sp>
        <p:nvSpPr>
          <p:cNvPr id="27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8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CO-OP // ROLE ASYMMETRY IS THE PUZZLE</a:t>
            </a:r>
            <a:endParaRPr lang="en-US" sz="1200" dirty="0"/>
          </a:p>
        </p:txBody>
      </p:sp>
      <p:sp>
        <p:nvSpPr>
          <p:cNvPr id="29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495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CO-OP TRIALS // RELAY TIMING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 // RELAYS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1041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四章触点把默契变为可执行的时序</a:t>
            </a:r>
            <a:endParaRPr lang="en-US" sz="3400" dirty="0"/>
          </a:p>
        </p:txBody>
      </p:sp>
      <p:sp>
        <p:nvSpPr>
          <p:cNvPr id="6" name="intro"/>
          <p:cNvSpPr/>
          <p:nvPr/>
        </p:nvSpPr>
        <p:spPr>
          <a:xfrm>
            <a:off x="1016000" y="2628900"/>
            <a:ext cx="914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记录恢复后才启用分站校验；错序只让触点回到冷白待命，而不是额外生成敌人。</a:t>
            </a:r>
            <a:endParaRPr lang="en-US" sz="1800" dirty="0"/>
          </a:p>
        </p:txBody>
      </p:sp>
      <p:sp>
        <p:nvSpPr>
          <p:cNvPr id="7" name="timeline"/>
          <p:cNvSpPr/>
          <p:nvPr/>
        </p:nvSpPr>
        <p:spPr>
          <a:xfrm>
            <a:off x="1651000" y="4876800"/>
            <a:ext cx="1295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8" name="node-one"/>
          <p:cNvSpPr/>
          <p:nvPr/>
        </p:nvSpPr>
        <p:spPr>
          <a:xfrm>
            <a:off x="2159000" y="4749800"/>
            <a:ext cx="254000" cy="254000"/>
          </a:xfrm>
          <a:prstGeom prst="diamond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9" name="one-kicker"/>
          <p:cNvSpPr/>
          <p:nvPr/>
        </p:nvSpPr>
        <p:spPr>
          <a:xfrm>
            <a:off x="1524000" y="36322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I</a:t>
            </a:r>
            <a:endParaRPr lang="en-US" sz="1100" dirty="0"/>
          </a:p>
        </p:txBody>
      </p:sp>
      <p:sp>
        <p:nvSpPr>
          <p:cNvPr id="10" name="one-title"/>
          <p:cNvSpPr/>
          <p:nvPr/>
        </p:nvSpPr>
        <p:spPr>
          <a:xfrm>
            <a:off x="1333500" y="4013200"/>
            <a:ext cx="190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同步驻留</a:t>
            </a:r>
            <a:endParaRPr lang="en-US" sz="1800" dirty="0"/>
          </a:p>
        </p:txBody>
      </p:sp>
      <p:sp>
        <p:nvSpPr>
          <p:cNvPr id="11" name="one-p1"/>
          <p:cNvSpPr/>
          <p:nvPr/>
        </p:nvSpPr>
        <p:spPr>
          <a:xfrm>
            <a:off x="1752600" y="5384800"/>
            <a:ext cx="10160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12" name="one-p2"/>
          <p:cNvSpPr/>
          <p:nvPr/>
        </p:nvSpPr>
        <p:spPr>
          <a:xfrm>
            <a:off x="1752600" y="5562600"/>
            <a:ext cx="10160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13" name="one-note"/>
          <p:cNvSpPr/>
          <p:nvPr/>
        </p:nvSpPr>
        <p:spPr>
          <a:xfrm>
            <a:off x="1397000" y="5842000"/>
            <a:ext cx="177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共同保持</a:t>
            </a:r>
            <a:endParaRPr lang="en-US" sz="1300" dirty="0"/>
          </a:p>
          <a:p>
            <a:pPr algn="ctr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作为教学</a:t>
            </a:r>
            <a:endParaRPr lang="en-US" sz="1300" dirty="0"/>
          </a:p>
        </p:txBody>
      </p:sp>
      <p:sp>
        <p:nvSpPr>
          <p:cNvPr id="14" name="node-two"/>
          <p:cNvSpPr/>
          <p:nvPr/>
        </p:nvSpPr>
        <p:spPr>
          <a:xfrm>
            <a:off x="5334000" y="4749800"/>
            <a:ext cx="254000" cy="254000"/>
          </a:xfrm>
          <a:prstGeom prst="diamond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15" name="two-kicker"/>
          <p:cNvSpPr/>
          <p:nvPr/>
        </p:nvSpPr>
        <p:spPr>
          <a:xfrm>
            <a:off x="4699000" y="36322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II</a:t>
            </a:r>
            <a:endParaRPr lang="en-US" sz="1100" dirty="0"/>
          </a:p>
        </p:txBody>
      </p:sp>
      <p:sp>
        <p:nvSpPr>
          <p:cNvPr id="16" name="two-title"/>
          <p:cNvSpPr/>
          <p:nvPr/>
        </p:nvSpPr>
        <p:spPr>
          <a:xfrm>
            <a:off x="4508500" y="4013200"/>
            <a:ext cx="190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P1 先锁定</a:t>
            </a:r>
            <a:endParaRPr lang="en-US" sz="1800" dirty="0"/>
          </a:p>
        </p:txBody>
      </p:sp>
      <p:sp>
        <p:nvSpPr>
          <p:cNvPr id="17" name="two-p1"/>
          <p:cNvSpPr/>
          <p:nvPr/>
        </p:nvSpPr>
        <p:spPr>
          <a:xfrm>
            <a:off x="4927600" y="5384800"/>
            <a:ext cx="11430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18" name="two-p2"/>
          <p:cNvSpPr/>
          <p:nvPr/>
        </p:nvSpPr>
        <p:spPr>
          <a:xfrm>
            <a:off x="5308600" y="5562600"/>
            <a:ext cx="7620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19" name="two-note"/>
          <p:cNvSpPr/>
          <p:nvPr/>
        </p:nvSpPr>
        <p:spPr>
          <a:xfrm>
            <a:off x="4572000" y="5842000"/>
            <a:ext cx="177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P2 响应窗口</a:t>
            </a:r>
            <a:endParaRPr lang="en-US" sz="1300" dirty="0"/>
          </a:p>
          <a:p>
            <a:pPr algn="ctr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1.2 秒</a:t>
            </a:r>
            <a:endParaRPr lang="en-US" sz="1300" dirty="0"/>
          </a:p>
        </p:txBody>
      </p:sp>
      <p:sp>
        <p:nvSpPr>
          <p:cNvPr id="20" name="node-three"/>
          <p:cNvSpPr/>
          <p:nvPr/>
        </p:nvSpPr>
        <p:spPr>
          <a:xfrm>
            <a:off x="8509000" y="4749800"/>
            <a:ext cx="254000" cy="254000"/>
          </a:xfrm>
          <a:prstGeom prst="diamond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21" name="three-kicker"/>
          <p:cNvSpPr/>
          <p:nvPr/>
        </p:nvSpPr>
        <p:spPr>
          <a:xfrm>
            <a:off x="7874000" y="36322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III</a:t>
            </a:r>
            <a:endParaRPr lang="en-US" sz="1100" dirty="0"/>
          </a:p>
        </p:txBody>
      </p:sp>
      <p:sp>
        <p:nvSpPr>
          <p:cNvPr id="22" name="three-title"/>
          <p:cNvSpPr/>
          <p:nvPr/>
        </p:nvSpPr>
        <p:spPr>
          <a:xfrm>
            <a:off x="7683500" y="4013200"/>
            <a:ext cx="190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P2 先锁定</a:t>
            </a:r>
            <a:endParaRPr lang="en-US" sz="1800" dirty="0"/>
          </a:p>
        </p:txBody>
      </p:sp>
      <p:sp>
        <p:nvSpPr>
          <p:cNvPr id="23" name="three-p2"/>
          <p:cNvSpPr/>
          <p:nvPr/>
        </p:nvSpPr>
        <p:spPr>
          <a:xfrm>
            <a:off x="8102600" y="5384800"/>
            <a:ext cx="11430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24" name="three-p1"/>
          <p:cNvSpPr/>
          <p:nvPr/>
        </p:nvSpPr>
        <p:spPr>
          <a:xfrm>
            <a:off x="8483600" y="5562600"/>
            <a:ext cx="7620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25" name="three-note"/>
          <p:cNvSpPr/>
          <p:nvPr/>
        </p:nvSpPr>
        <p:spPr>
          <a:xfrm>
            <a:off x="7747000" y="5842000"/>
            <a:ext cx="177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P1 响应窗口</a:t>
            </a:r>
            <a:endParaRPr lang="en-US" sz="1300" dirty="0"/>
          </a:p>
          <a:p>
            <a:pPr algn="ctr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0.9 秒</a:t>
            </a:r>
            <a:endParaRPr lang="en-US" sz="1300" dirty="0"/>
          </a:p>
        </p:txBody>
      </p:sp>
      <p:sp>
        <p:nvSpPr>
          <p:cNvPr id="26" name="node-four"/>
          <p:cNvSpPr/>
          <p:nvPr/>
        </p:nvSpPr>
        <p:spPr>
          <a:xfrm>
            <a:off x="11684000" y="4749800"/>
            <a:ext cx="254000" cy="254000"/>
          </a:xfrm>
          <a:prstGeom prst="diamond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27" name="four-kicker"/>
          <p:cNvSpPr/>
          <p:nvPr/>
        </p:nvSpPr>
        <p:spPr>
          <a:xfrm>
            <a:off x="11049000" y="36322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IV</a:t>
            </a:r>
            <a:endParaRPr lang="en-US" sz="1100" dirty="0"/>
          </a:p>
        </p:txBody>
      </p:sp>
      <p:sp>
        <p:nvSpPr>
          <p:cNvPr id="28" name="four-title"/>
          <p:cNvSpPr/>
          <p:nvPr/>
        </p:nvSpPr>
        <p:spPr>
          <a:xfrm>
            <a:off x="10858500" y="4013200"/>
            <a:ext cx="190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D4AF37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释放后重同步</a:t>
            </a:r>
            <a:endParaRPr lang="en-US" sz="1800" dirty="0"/>
          </a:p>
        </p:txBody>
      </p:sp>
      <p:sp>
        <p:nvSpPr>
          <p:cNvPr id="29" name="four-pair-a"/>
          <p:cNvSpPr/>
          <p:nvPr/>
        </p:nvSpPr>
        <p:spPr>
          <a:xfrm>
            <a:off x="11277600" y="5384800"/>
            <a:ext cx="10414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30" name="four-gap"/>
          <p:cNvSpPr/>
          <p:nvPr/>
        </p:nvSpPr>
        <p:spPr>
          <a:xfrm>
            <a:off x="11734800" y="5562600"/>
            <a:ext cx="127000" cy="9144"/>
          </a:xfrm>
          <a:prstGeom prst="line">
            <a:avLst/>
          </a:prstGeom>
          <a:ln w="12700">
            <a:solidFill>
              <a:srgbClr val="1A202C"/>
            </a:solidFill>
            <a:prstDash val="sysDot"/>
          </a:ln>
        </p:spPr>
      </p:sp>
      <p:sp>
        <p:nvSpPr>
          <p:cNvPr id="31" name="four-pair-b"/>
          <p:cNvSpPr/>
          <p:nvPr/>
        </p:nvSpPr>
        <p:spPr>
          <a:xfrm>
            <a:off x="11277600" y="5740400"/>
            <a:ext cx="10414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32" name="four-note"/>
          <p:cNvSpPr/>
          <p:nvPr/>
        </p:nvSpPr>
        <p:spPr>
          <a:xfrm>
            <a:off x="10922000" y="6019800"/>
            <a:ext cx="177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共同释放后</a:t>
            </a:r>
            <a:endParaRPr lang="en-US" sz="1300" dirty="0"/>
          </a:p>
          <a:p>
            <a:pPr algn="ctr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0.8 秒内回合</a:t>
            </a:r>
            <a:endParaRPr lang="en-US" sz="1300" dirty="0"/>
          </a:p>
        </p:txBody>
      </p:sp>
      <p:sp>
        <p:nvSpPr>
          <p:cNvPr id="33" name="exit-direction"/>
          <p:cNvSpPr/>
          <p:nvPr/>
        </p:nvSpPr>
        <p:spPr>
          <a:xfrm>
            <a:off x="13271500" y="4876800"/>
            <a:ext cx="1168400" cy="9144"/>
          </a:xfrm>
          <a:prstGeom prst="line">
            <a:avLst/>
          </a:prstGeom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4" name="exit-label"/>
          <p:cNvSpPr/>
          <p:nvPr/>
        </p:nvSpPr>
        <p:spPr>
          <a:xfrm>
            <a:off x="13233400" y="5143500"/>
            <a:ext cx="139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EXIT // OPEN</a:t>
            </a:r>
            <a:endParaRPr lang="en-US" sz="1100" dirty="0"/>
          </a:p>
        </p:txBody>
      </p:sp>
      <p:sp>
        <p:nvSpPr>
          <p:cNvPr id="35" name="bottom-rule"/>
          <p:cNvSpPr/>
          <p:nvPr/>
        </p:nvSpPr>
        <p:spPr>
          <a:xfrm>
            <a:off x="1016000" y="71882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36" name="bottom-note"/>
          <p:cNvSpPr/>
          <p:nvPr/>
        </p:nvSpPr>
        <p:spPr>
          <a:xfrm>
            <a:off x="1016000" y="7518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失步：校验复位、播放低量冷白校验音、重新读取。不要用红色惩罚掩盖协作错误。</a:t>
            </a:r>
            <a:endParaRPr lang="en-US" sz="1700" dirty="0"/>
          </a:p>
        </p:txBody>
      </p:sp>
      <p:sp>
        <p:nvSpPr>
          <p:cNvPr id="37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38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TRIALS // TIMING IS COMMUNICATION</a:t>
            </a:r>
            <a:endParaRPr lang="en-US" sz="1200" dirty="0"/>
          </a:p>
        </p:txBody>
      </p:sp>
      <p:sp>
        <p:nvSpPr>
          <p:cNvPr id="39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CO-OP REWARDS // FALSE ECHO / CR LOGS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07 // REWARD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10668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伪回声与默契终局提供协作回报</a:t>
            </a:r>
            <a:endParaRPr lang="en-US" sz="3400" dirty="0"/>
          </a:p>
        </p:txBody>
      </p:sp>
      <p:sp>
        <p:nvSpPr>
          <p:cNvPr id="6" name="false-kicker"/>
          <p:cNvSpPr/>
          <p:nvPr/>
        </p:nvSpPr>
        <p:spPr>
          <a:xfrm>
            <a:off x="1016000" y="3175000"/>
            <a:ext cx="292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FALSE ECHO // NO VISUAL MARK</a:t>
            </a:r>
            <a:endParaRPr lang="en-US" sz="1200" dirty="0"/>
          </a:p>
        </p:txBody>
      </p:sp>
      <p:sp>
        <p:nvSpPr>
          <p:cNvPr id="7" name="false-source"/>
          <p:cNvSpPr/>
          <p:nvPr/>
        </p:nvSpPr>
        <p:spPr>
          <a:xfrm>
            <a:off x="1016000" y="3860800"/>
            <a:ext cx="9652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8" name="false-source-b"/>
          <p:cNvSpPr/>
          <p:nvPr/>
        </p:nvSpPr>
        <p:spPr>
          <a:xfrm>
            <a:off x="1016000" y="4064000"/>
            <a:ext cx="584200" cy="9144"/>
          </a:xfrm>
          <a:prstGeom prst="line">
            <a:avLst/>
          </a:prstGeom>
          <a:ln w="12700">
            <a:solidFill>
              <a:srgbClr val="8A9BAE"/>
            </a:solidFill>
            <a:prstDash val="solid"/>
          </a:ln>
        </p:spPr>
      </p:sp>
      <p:sp>
        <p:nvSpPr>
          <p:cNvPr id="9" name="false-a"/>
          <p:cNvSpPr/>
          <p:nvPr/>
        </p:nvSpPr>
        <p:spPr>
          <a:xfrm>
            <a:off x="2286000" y="370840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远距侧向低频出现</a:t>
            </a:r>
            <a:endParaRPr lang="en-US" sz="1700" dirty="0"/>
          </a:p>
        </p:txBody>
      </p:sp>
      <p:sp>
        <p:nvSpPr>
          <p:cNvPr id="10" name="false-arrow-a"/>
          <p:cNvSpPr/>
          <p:nvPr/>
        </p:nvSpPr>
        <p:spPr>
          <a:xfrm>
            <a:off x="3429000" y="4216400"/>
            <a:ext cx="9144" cy="533400"/>
          </a:xfrm>
          <a:prstGeom prst="line">
            <a:avLst/>
          </a:prstGeom>
          <a:ln w="127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11" name="false-b"/>
          <p:cNvSpPr/>
          <p:nvPr/>
        </p:nvSpPr>
        <p:spPr>
          <a:xfrm>
            <a:off x="2286000" y="492760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两人沟通并复核</a:t>
            </a:r>
            <a:endParaRPr lang="en-US" sz="1700" dirty="0"/>
          </a:p>
        </p:txBody>
      </p:sp>
      <p:sp>
        <p:nvSpPr>
          <p:cNvPr id="12" name="false-arrow-b"/>
          <p:cNvSpPr/>
          <p:nvPr/>
        </p:nvSpPr>
        <p:spPr>
          <a:xfrm>
            <a:off x="3429000" y="5435600"/>
            <a:ext cx="9144" cy="533400"/>
          </a:xfrm>
          <a:prstGeom prst="line">
            <a:avLst/>
          </a:prstGeom>
          <a:ln w="127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13" name="false-c"/>
          <p:cNvSpPr/>
          <p:nvPr/>
        </p:nvSpPr>
        <p:spPr>
          <a:xfrm>
            <a:off x="2286000" y="6121400"/>
            <a:ext cx="2349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只信可验证的</a:t>
            </a:r>
            <a:endParaRPr lang="en-US" sz="1700" dirty="0"/>
          </a:p>
          <a:p>
            <a:pPr algn="l" indent="0" marL="0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真实队友与环境证据</a:t>
            </a:r>
            <a:endParaRPr lang="en-US" sz="1700" dirty="0"/>
          </a:p>
        </p:txBody>
      </p:sp>
      <p:sp>
        <p:nvSpPr>
          <p:cNvPr id="14" name="false-note"/>
          <p:cNvSpPr/>
          <p:nvPr/>
        </p:nvSpPr>
        <p:spPr>
          <a:xfrm>
            <a:off x="1016000" y="70104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伪回声不改变敌人、路线、记录或出口；它只考验判断。</a:t>
            </a:r>
            <a:endParaRPr lang="en-US" sz="1400" dirty="0"/>
          </a:p>
        </p:txBody>
      </p:sp>
      <p:sp>
        <p:nvSpPr>
          <p:cNvPr id="15" name="cr-kicker"/>
          <p:cNvSpPr/>
          <p:nvPr/>
        </p:nvSpPr>
        <p:spPr>
          <a:xfrm>
            <a:off x="6350000" y="3175000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HIDDEN HARMONY // 8 MARKS</a:t>
            </a:r>
            <a:endParaRPr lang="en-US" sz="1200" dirty="0"/>
          </a:p>
        </p:txBody>
      </p:sp>
      <p:sp>
        <p:nvSpPr>
          <p:cNvPr id="16" name="cr-spine"/>
          <p:cNvSpPr/>
          <p:nvPr/>
        </p:nvSpPr>
        <p:spPr>
          <a:xfrm>
            <a:off x="6731000" y="3708400"/>
            <a:ext cx="9144" cy="2603500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17" name="cr-zero"/>
          <p:cNvSpPr/>
          <p:nvPr/>
        </p:nvSpPr>
        <p:spPr>
          <a:xfrm>
            <a:off x="6731000" y="3911600"/>
            <a:ext cx="457200" cy="9144"/>
          </a:xfrm>
          <a:prstGeom prst="line">
            <a:avLst/>
          </a:prstGeom>
          <a:ln w="25400">
            <a:solidFill>
              <a:srgbClr val="E53E3E"/>
            </a:solidFill>
            <a:prstDash val="solid"/>
          </a:ln>
        </p:spPr>
      </p:sp>
      <p:sp>
        <p:nvSpPr>
          <p:cNvPr id="18" name="cr-zero-title"/>
          <p:cNvSpPr/>
          <p:nvPr/>
        </p:nvSpPr>
        <p:spPr>
          <a:xfrm>
            <a:off x="7429500" y="3733800"/>
            <a:ext cx="2667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53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CR-00 // 失配记录</a:t>
            </a:r>
            <a:endParaRPr lang="en-US" sz="1200" dirty="0"/>
          </a:p>
        </p:txBody>
      </p:sp>
      <p:sp>
        <p:nvSpPr>
          <p:cNvPr id="19" name="cr-zero-copy"/>
          <p:cNvSpPr/>
          <p:nvPr/>
        </p:nvSpPr>
        <p:spPr>
          <a:xfrm>
            <a:off x="7429500" y="4064000"/>
            <a:ext cx="260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不足半数协作勋记</a:t>
            </a:r>
            <a:endParaRPr lang="en-US" sz="1400" dirty="0"/>
          </a:p>
        </p:txBody>
      </p:sp>
      <p:sp>
        <p:nvSpPr>
          <p:cNvPr id="20" name="cr-one"/>
          <p:cNvSpPr/>
          <p:nvPr/>
        </p:nvSpPr>
        <p:spPr>
          <a:xfrm>
            <a:off x="6731000" y="4851400"/>
            <a:ext cx="4572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21" name="cr-one-title"/>
          <p:cNvSpPr/>
          <p:nvPr/>
        </p:nvSpPr>
        <p:spPr>
          <a:xfrm>
            <a:off x="7429500" y="4673600"/>
            <a:ext cx="2667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F4F6F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CR-01 // 双声残响</a:t>
            </a:r>
            <a:endParaRPr lang="en-US" sz="1200" dirty="0"/>
          </a:p>
        </p:txBody>
      </p:sp>
      <p:sp>
        <p:nvSpPr>
          <p:cNvPr id="22" name="cr-one-copy"/>
          <p:cNvSpPr/>
          <p:nvPr/>
        </p:nvSpPr>
        <p:spPr>
          <a:xfrm>
            <a:off x="7429500" y="5003800"/>
            <a:ext cx="260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至少半数协作勋记</a:t>
            </a:r>
            <a:endParaRPr lang="en-US" sz="1400" dirty="0"/>
          </a:p>
        </p:txBody>
      </p:sp>
      <p:sp>
        <p:nvSpPr>
          <p:cNvPr id="23" name="cr-two"/>
          <p:cNvSpPr/>
          <p:nvPr/>
        </p:nvSpPr>
        <p:spPr>
          <a:xfrm>
            <a:off x="6731000" y="5791200"/>
            <a:ext cx="457200" cy="9144"/>
          </a:xfrm>
          <a:prstGeom prst="line">
            <a:avLst/>
          </a:prstGeom>
          <a:ln w="25400">
            <a:solidFill>
              <a:srgbClr val="D4AF37"/>
            </a:solidFill>
            <a:prstDash val="solid"/>
          </a:ln>
        </p:spPr>
      </p:sp>
      <p:sp>
        <p:nvSpPr>
          <p:cNvPr id="24" name="cr-two-title"/>
          <p:cNvSpPr/>
          <p:nvPr/>
        </p:nvSpPr>
        <p:spPr>
          <a:xfrm>
            <a:off x="7429500" y="5613400"/>
            <a:ext cx="2667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CR-02 // 同相离岸</a:t>
            </a:r>
            <a:endParaRPr lang="en-US" sz="1200" dirty="0"/>
          </a:p>
        </p:txBody>
      </p:sp>
      <p:sp>
        <p:nvSpPr>
          <p:cNvPr id="25" name="cr-two-copy"/>
          <p:cNvSpPr/>
          <p:nvPr/>
        </p:nvSpPr>
        <p:spPr>
          <a:xfrm>
            <a:off x="7429500" y="5943600"/>
            <a:ext cx="260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四章均获无断线与低警觉</a:t>
            </a:r>
            <a:endParaRPr lang="en-US" sz="1400" dirty="0"/>
          </a:p>
        </p:txBody>
      </p:sp>
      <p:pic>
        <p:nvPicPr>
          <p:cNvPr id="26" name="cr-ending-image" descr="preencoded.png">    </p:cNvPr>
          <p:cNvPicPr>
            <a:picLocks noChangeAspect="1"/>
          </p:cNvPicPr>
          <p:nvPr/>
        </p:nvPicPr>
        <p:blipFill>
          <a:blip r:embed="rId1"/>
          <a:srcRect l="25000" r="25000" t="0" b="0"/>
          <a:stretch/>
        </p:blipFill>
        <p:spPr>
          <a:xfrm>
            <a:off x="11430000" y="3238500"/>
            <a:ext cx="3302000" cy="4127500"/>
          </a:xfrm>
          <a:prstGeom prst="rect">
            <a:avLst/>
          </a:prstGeom>
          <a:ln w="12700">
            <a:solidFill>
              <a:srgbClr val="1A202C"/>
            </a:solidFill>
          </a:ln>
        </p:spPr>
      </p:pic>
      <p:sp>
        <p:nvSpPr>
          <p:cNvPr id="27" name="image-caption"/>
          <p:cNvSpPr/>
          <p:nvPr/>
        </p:nvSpPr>
        <p:spPr>
          <a:xfrm>
            <a:off x="11430000" y="75692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CR-02 // IMPLEMENTED CANVAS ENDING</a:t>
            </a:r>
            <a:endParaRPr lang="en-US" sz="1100" dirty="0"/>
          </a:p>
        </p:txBody>
      </p:sp>
      <p:sp>
        <p:nvSpPr>
          <p:cNvPr id="28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9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REWARD // COMMUNICATION IS NOT A METER</a:t>
            </a:r>
            <a:endParaRPr lang="en-US" sz="1200" dirty="0"/>
          </a:p>
        </p:txBody>
      </p:sp>
      <p:sp>
        <p:nvSpPr>
          <p:cNvPr id="30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PERSISTENCE // LOCAL DOMAIN ISOLATION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241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08 // PERSISTENCE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1041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本地存储要保持域隔离与可恢复</a:t>
            </a:r>
            <a:endParaRPr lang="en-US" sz="3400" dirty="0"/>
          </a:p>
        </p:txBody>
      </p:sp>
      <p:sp>
        <p:nvSpPr>
          <p:cNvPr id="6" name="domain-rule-a"/>
          <p:cNvSpPr/>
          <p:nvPr/>
        </p:nvSpPr>
        <p:spPr>
          <a:xfrm>
            <a:off x="5397500" y="3022600"/>
            <a:ext cx="9144" cy="3479800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7" name="domain-rule-b"/>
          <p:cNvSpPr/>
          <p:nvPr/>
        </p:nvSpPr>
        <p:spPr>
          <a:xfrm>
            <a:off x="10223500" y="3022600"/>
            <a:ext cx="9144" cy="3479800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8" name="solo-kicker"/>
          <p:cNvSpPr/>
          <p:nvPr/>
        </p:nvSpPr>
        <p:spPr>
          <a:xfrm>
            <a:off x="1016000" y="31115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DOMAIN 01 // SOLO</a:t>
            </a:r>
            <a:endParaRPr lang="en-US" sz="1200" dirty="0"/>
          </a:p>
        </p:txBody>
      </p:sp>
      <p:sp>
        <p:nvSpPr>
          <p:cNvPr id="9" name="solo-title"/>
          <p:cNvSpPr/>
          <p:nvPr/>
        </p:nvSpPr>
        <p:spPr>
          <a:xfrm>
            <a:off x="1016000" y="3568700"/>
            <a:ext cx="317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档案与单人历史</a:t>
            </a:r>
            <a:endParaRPr lang="en-US" sz="1800" dirty="0"/>
          </a:p>
        </p:txBody>
      </p:sp>
      <p:sp>
        <p:nvSpPr>
          <p:cNvPr id="10" name="solo-list"/>
          <p:cNvSpPr/>
          <p:nvPr/>
        </p:nvSpPr>
        <p:spPr>
          <a:xfrm>
            <a:off x="1016000" y="4127500"/>
            <a:ext cx="355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15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sonar-archives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altLang="en-US" sz="15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sonar-best-integrity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altLang="en-US" sz="15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sonar-chapter-badges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altLang="en-US" sz="15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sonar-cue-evidence</a:t>
            </a:r>
            <a:endParaRPr lang="en-US" sz="1500" dirty="0"/>
          </a:p>
        </p:txBody>
      </p:sp>
      <p:sp>
        <p:nvSpPr>
          <p:cNvPr id="11" name="solo-note"/>
          <p:cNvSpPr/>
          <p:nvPr/>
        </p:nvSpPr>
        <p:spPr>
          <a:xfrm>
            <a:off x="1016000" y="6070600"/>
            <a:ext cx="368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驱动 AR 记录、ER 终局与章节回放。</a:t>
            </a:r>
            <a:endParaRPr lang="en-US" sz="1400" dirty="0"/>
          </a:p>
        </p:txBody>
      </p:sp>
      <p:sp>
        <p:nvSpPr>
          <p:cNvPr id="12" name="coop-kicker"/>
          <p:cNvSpPr/>
          <p:nvPr/>
        </p:nvSpPr>
        <p:spPr>
          <a:xfrm>
            <a:off x="5778500" y="31115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DOMAIN 02 // CO-OP</a:t>
            </a:r>
            <a:endParaRPr lang="en-US" sz="1200" dirty="0"/>
          </a:p>
        </p:txBody>
      </p:sp>
      <p:sp>
        <p:nvSpPr>
          <p:cNvPr id="13" name="coop-title"/>
          <p:cNvSpPr/>
          <p:nvPr/>
        </p:nvSpPr>
        <p:spPr>
          <a:xfrm>
            <a:off x="5778500" y="3568700"/>
            <a:ext cx="342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协作续行与合作回报</a:t>
            </a:r>
            <a:endParaRPr lang="en-US" sz="1800" dirty="0"/>
          </a:p>
        </p:txBody>
      </p:sp>
      <p:sp>
        <p:nvSpPr>
          <p:cNvPr id="14" name="coop-key-line"/>
          <p:cNvSpPr/>
          <p:nvPr/>
        </p:nvSpPr>
        <p:spPr>
          <a:xfrm>
            <a:off x="5778500" y="4064000"/>
            <a:ext cx="1905000" cy="9144"/>
          </a:xfrm>
          <a:prstGeom prst="line">
            <a:avLst/>
          </a:prstGeom>
          <a:ln w="25400">
            <a:solidFill>
              <a:srgbClr val="D4AF37"/>
            </a:solidFill>
            <a:prstDash val="solid"/>
          </a:ln>
        </p:spPr>
      </p:sp>
      <p:sp>
        <p:nvSpPr>
          <p:cNvPr id="15" name="coop-list"/>
          <p:cNvSpPr/>
          <p:nvPr/>
        </p:nvSpPr>
        <p:spPr>
          <a:xfrm>
            <a:off x="5778500" y="4318000"/>
            <a:ext cx="355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15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sonar-coop-progress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altLang="en-US" sz="15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协作勋记写入章节勋记域</a:t>
            </a:r>
            <a:endParaRPr lang="en-US" sz="1500" dirty="0"/>
          </a:p>
        </p:txBody>
      </p:sp>
      <p:sp>
        <p:nvSpPr>
          <p:cNvPr id="16" name="coop-note"/>
          <p:cNvSpPr/>
          <p:nvPr/>
        </p:nvSpPr>
        <p:spPr>
          <a:xfrm>
            <a:off x="5778500" y="5562600"/>
            <a:ext cx="36195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仅保存下一待玩章节与完成次数。第四章完成后回到 I；不得清空单人档案或最佳记录。</a:t>
            </a:r>
            <a:endParaRPr lang="en-US" sz="1400" dirty="0"/>
          </a:p>
        </p:txBody>
      </p:sp>
      <p:sp>
        <p:nvSpPr>
          <p:cNvPr id="17" name="listen-kicker"/>
          <p:cNvSpPr/>
          <p:nvPr/>
        </p:nvSpPr>
        <p:spPr>
          <a:xfrm>
            <a:off x="10604500" y="31115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DOMAIN 03 // LISTENING</a:t>
            </a:r>
            <a:endParaRPr lang="en-US" sz="1200" dirty="0"/>
          </a:p>
        </p:txBody>
      </p:sp>
      <p:sp>
        <p:nvSpPr>
          <p:cNvPr id="18" name="listen-title"/>
          <p:cNvSpPr/>
          <p:nvPr/>
        </p:nvSpPr>
        <p:spPr>
          <a:xfrm>
            <a:off x="10604500" y="3568700"/>
            <a:ext cx="342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输出偏好与输入映射</a:t>
            </a:r>
            <a:endParaRPr lang="en-US" sz="1800" dirty="0"/>
          </a:p>
        </p:txBody>
      </p:sp>
      <p:sp>
        <p:nvSpPr>
          <p:cNvPr id="19" name="listen-list"/>
          <p:cNvSpPr/>
          <p:nvPr/>
        </p:nvSpPr>
        <p:spPr>
          <a:xfrm>
            <a:off x="10604500" y="4127500"/>
            <a:ext cx="3810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15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sonar-audio-muted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altLang="en-US" sz="15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sonar-audio-prefs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altLang="en-US" sz="15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sonar-key-bindings</a:t>
            </a:r>
            <a:endParaRPr lang="en-US" sz="1500" dirty="0"/>
          </a:p>
        </p:txBody>
      </p:sp>
      <p:sp>
        <p:nvSpPr>
          <p:cNvPr id="20" name="listen-note"/>
          <p:cNvSpPr/>
          <p:nvPr/>
        </p:nvSpPr>
        <p:spPr>
          <a:xfrm>
            <a:off x="10604500" y="5816600"/>
            <a:ext cx="3873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绑定加载后过滤系统键、规范化格式，并消解同模式内的重复键。</a:t>
            </a:r>
            <a:endParaRPr lang="en-US" sz="1400" dirty="0"/>
          </a:p>
        </p:txBody>
      </p:sp>
      <p:sp>
        <p:nvSpPr>
          <p:cNvPr id="21" name="bottom-rule"/>
          <p:cNvSpPr/>
          <p:nvPr/>
        </p:nvSpPr>
        <p:spPr>
          <a:xfrm>
            <a:off x="1016000" y="69850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2" name="bottom-flow"/>
          <p:cNvSpPr/>
          <p:nvPr/>
        </p:nvSpPr>
        <p:spPr>
          <a:xfrm>
            <a:off x="1016000" y="7327900"/>
            <a:ext cx="142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 LOCAL DATA　→　NORMALIZE / CLAMP　→　WRITE ONLY THE OWNED DOMAIN</a:t>
            </a:r>
            <a:endParaRPr lang="en-US" sz="1400" dirty="0"/>
          </a:p>
        </p:txBody>
      </p:sp>
      <p:sp>
        <p:nvSpPr>
          <p:cNvPr id="23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4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STORE // ISOLATE PLAYER HISTORY</a:t>
            </a:r>
            <a:endParaRPr lang="en-US" sz="1200" dirty="0"/>
          </a:p>
        </p:txBody>
      </p:sp>
      <p:sp>
        <p:nvSpPr>
          <p:cNvPr id="25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495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SESSION INTEGRITY // FOCUS / BOUNDARIES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09 // INTEGRITY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10795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双人稳定性取决于焦点与状态边界</a:t>
            </a:r>
            <a:endParaRPr lang="en-US" sz="3400" dirty="0"/>
          </a:p>
        </p:txBody>
      </p:sp>
      <p:sp>
        <p:nvSpPr>
          <p:cNvPr id="6" name="risk-kicker"/>
          <p:cNvSpPr/>
          <p:nvPr/>
        </p:nvSpPr>
        <p:spPr>
          <a:xfrm>
            <a:off x="1016000" y="31750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53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RISK SOURCES</a:t>
            </a:r>
            <a:endParaRPr lang="en-US" sz="1200" dirty="0"/>
          </a:p>
        </p:txBody>
      </p:sp>
      <p:sp>
        <p:nvSpPr>
          <p:cNvPr id="7" name="risk-line"/>
          <p:cNvSpPr/>
          <p:nvPr/>
        </p:nvSpPr>
        <p:spPr>
          <a:xfrm>
            <a:off x="1016000" y="3581400"/>
            <a:ext cx="3111500" cy="9144"/>
          </a:xfrm>
          <a:prstGeom prst="line">
            <a:avLst/>
          </a:prstGeom>
          <a:ln w="12700">
            <a:solidFill>
              <a:srgbClr val="E53E3E"/>
            </a:solidFill>
            <a:prstDash val="solid"/>
          </a:ln>
        </p:spPr>
      </p:sp>
      <p:sp>
        <p:nvSpPr>
          <p:cNvPr id="8" name="risk-list"/>
          <p:cNvSpPr/>
          <p:nvPr/>
        </p:nvSpPr>
        <p:spPr>
          <a:xfrm>
            <a:off x="1016000" y="3937000"/>
            <a:ext cx="3810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残留 URL 参数改变接入状态</a:t>
            </a:r>
            <a:endParaRPr lang="en-US" sz="1700" dirty="0"/>
          </a:p>
          <a:p>
            <a:pPr algn="l" indent="0" marL="0">
              <a:lnSpc>
                <a:spcPts val="268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iframe 没有明确交接焦点</a:t>
            </a:r>
            <a:endParaRPr lang="en-US" sz="1700" dirty="0"/>
          </a:p>
          <a:p>
            <a:pPr algn="l" indent="0" marL="0">
              <a:lnSpc>
                <a:spcPts val="268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切换覆盖层后移动键遗留</a:t>
            </a:r>
            <a:endParaRPr lang="en-US" sz="1700" dirty="0"/>
          </a:p>
          <a:p>
            <a:pPr algn="l" indent="0" marL="0">
              <a:lnSpc>
                <a:spcPts val="268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回放继承双人实体或键位</a:t>
            </a:r>
            <a:endParaRPr lang="en-US" sz="1700" dirty="0"/>
          </a:p>
        </p:txBody>
      </p:sp>
      <p:sp>
        <p:nvSpPr>
          <p:cNvPr id="9" name="isolation-kicker"/>
          <p:cNvSpPr/>
          <p:nvPr/>
        </p:nvSpPr>
        <p:spPr>
          <a:xfrm>
            <a:off x="6070600" y="2921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FORMAL SESSION / CONTROLLED HANDOFF</a:t>
            </a:r>
            <a:endParaRPr lang="en-US" sz="1200" dirty="0"/>
          </a:p>
        </p:txBody>
      </p:sp>
      <p:sp>
        <p:nvSpPr>
          <p:cNvPr id="10" name="shell-frame"/>
          <p:cNvSpPr/>
          <p:nvPr/>
        </p:nvSpPr>
        <p:spPr>
          <a:xfrm>
            <a:off x="5905500" y="3365500"/>
            <a:ext cx="4445000" cy="2730500"/>
          </a:xfrm>
          <a:prstGeom prst="rect">
            <a:avLst/>
          </a:prstGeom>
          <a:ln w="12700">
            <a:solidFill>
              <a:srgbClr val="1A202C"/>
            </a:solidFill>
            <a:prstDash val="sysDot"/>
          </a:ln>
        </p:spPr>
      </p:sp>
      <p:sp>
        <p:nvSpPr>
          <p:cNvPr id="11" name="iframe-frame"/>
          <p:cNvSpPr/>
          <p:nvPr/>
        </p:nvSpPr>
        <p:spPr>
          <a:xfrm>
            <a:off x="6413500" y="3810000"/>
            <a:ext cx="3429000" cy="1841500"/>
          </a:xfrm>
          <a:prstGeom prst="rect">
            <a:avLst/>
          </a:prstGeom>
          <a:ln w="12700">
            <a:solidFill>
              <a:srgbClr val="8A9BAE"/>
            </a:solidFill>
            <a:prstDash val="dash"/>
          </a:ln>
        </p:spPr>
      </p:sp>
      <p:sp>
        <p:nvSpPr>
          <p:cNvPr id="12" name="canvas-frame"/>
          <p:cNvSpPr/>
          <p:nvPr/>
        </p:nvSpPr>
        <p:spPr>
          <a:xfrm>
            <a:off x="6985000" y="4254500"/>
            <a:ext cx="2286000" cy="952500"/>
          </a:xfrm>
          <a:prstGeom prst="rect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13" name="canvas-point"/>
          <p:cNvSpPr/>
          <p:nvPr/>
        </p:nvSpPr>
        <p:spPr>
          <a:xfrm>
            <a:off x="8077200" y="4673600"/>
            <a:ext cx="101600" cy="101600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14" name="frame-notch"/>
          <p:cNvSpPr/>
          <p:nvPr/>
        </p:nvSpPr>
        <p:spPr>
          <a:xfrm flipV="1">
            <a:off x="9118600" y="3886200"/>
            <a:ext cx="304800" cy="304800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15" name="shell-name"/>
          <p:cNvSpPr/>
          <p:nvPr/>
        </p:nvSpPr>
        <p:spPr>
          <a:xfrm>
            <a:off x="6070600" y="3505200"/>
            <a:ext cx="165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SHELL</a:t>
            </a:r>
            <a:endParaRPr lang="en-US" sz="1100" dirty="0"/>
          </a:p>
        </p:txBody>
      </p:sp>
      <p:sp>
        <p:nvSpPr>
          <p:cNvPr id="16" name="iframe-name"/>
          <p:cNvSpPr/>
          <p:nvPr/>
        </p:nvSpPr>
        <p:spPr>
          <a:xfrm>
            <a:off x="6578600" y="3949700"/>
            <a:ext cx="165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IFRAME</a:t>
            </a:r>
            <a:endParaRPr lang="en-US" sz="1100" dirty="0"/>
          </a:p>
        </p:txBody>
      </p:sp>
      <p:sp>
        <p:nvSpPr>
          <p:cNvPr id="17" name="canvas-name"/>
          <p:cNvSpPr/>
          <p:nvPr/>
        </p:nvSpPr>
        <p:spPr>
          <a:xfrm>
            <a:off x="7150100" y="4394200"/>
            <a:ext cx="165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F4F6F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CANVAS</a:t>
            </a:r>
            <a:endParaRPr lang="en-US" sz="1100" dirty="0"/>
          </a:p>
        </p:txBody>
      </p:sp>
      <p:sp>
        <p:nvSpPr>
          <p:cNvPr id="18" name="restore-kicker"/>
          <p:cNvSpPr/>
          <p:nvPr/>
        </p:nvSpPr>
        <p:spPr>
          <a:xfrm>
            <a:off x="11176000" y="3175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RECOVERY RULES</a:t>
            </a:r>
            <a:endParaRPr lang="en-US" sz="1200" dirty="0"/>
          </a:p>
        </p:txBody>
      </p:sp>
      <p:sp>
        <p:nvSpPr>
          <p:cNvPr id="19" name="restore-line"/>
          <p:cNvSpPr/>
          <p:nvPr/>
        </p:nvSpPr>
        <p:spPr>
          <a:xfrm>
            <a:off x="11176000" y="3581400"/>
            <a:ext cx="3111500" cy="9144"/>
          </a:xfrm>
          <a:prstGeom prst="line">
            <a:avLst/>
          </a:prstGeom>
          <a:ln w="12700">
            <a:solidFill>
              <a:srgbClr val="F4F6F9"/>
            </a:solidFill>
            <a:prstDash val="solid"/>
          </a:ln>
        </p:spPr>
      </p:sp>
      <p:sp>
        <p:nvSpPr>
          <p:cNvPr id="20" name="restore-list"/>
          <p:cNvSpPr/>
          <p:nvPr/>
        </p:nvSpPr>
        <p:spPr>
          <a:xfrm>
            <a:off x="11176000" y="3937000"/>
            <a:ext cx="3683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过滤未知 query；地址变化重建会话。</a:t>
            </a:r>
            <a:endParaRPr lang="en-US" sz="1700" dirty="0"/>
          </a:p>
          <a:p>
            <a:pPr algn="l" indent="0" marL="0">
              <a:lnSpc>
                <a:spcPts val="268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加载后向 Canvas 请求键盘焦点。</a:t>
            </a:r>
            <a:endParaRPr lang="en-US" sz="1700" dirty="0"/>
          </a:p>
          <a:p>
            <a:pPr algn="l" indent="0" marL="0">
              <a:lnSpc>
                <a:spcPts val="268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blur / hidden 时清空按键与捕获。</a:t>
            </a:r>
            <a:endParaRPr lang="en-US" sz="1700" dirty="0"/>
          </a:p>
          <a:p>
            <a:pPr algn="l" indent="0" marL="0">
              <a:lnSpc>
                <a:spcPts val="2686"/>
              </a:lnSpc>
              <a:buNone/>
            </a:pPr>
            <a:r>
              <a:rPr lang="en-US" altLang="en-US" sz="17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关闭设置、取消中止、载入章节时恢复焦点。</a:t>
            </a:r>
            <a:endParaRPr lang="en-US" sz="1700" dirty="0"/>
          </a:p>
        </p:txBody>
      </p:sp>
      <p:sp>
        <p:nvSpPr>
          <p:cNvPr id="21" name="handoff-line"/>
          <p:cNvSpPr/>
          <p:nvPr/>
        </p:nvSpPr>
        <p:spPr>
          <a:xfrm>
            <a:off x="8128000" y="6477000"/>
            <a:ext cx="9144" cy="533400"/>
          </a:xfrm>
          <a:prstGeom prst="line">
            <a:avLst/>
          </a:prstGeom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2" name="handoff-flow"/>
          <p:cNvSpPr/>
          <p:nvPr/>
        </p:nvSpPr>
        <p:spPr>
          <a:xfrm>
            <a:off x="2921000" y="7239000"/>
            <a:ext cx="1041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ENTRY → FOCUS CANVAS → CLEAR ON OVERLAY / BLUR → RESTORE ON RETURN</a:t>
            </a:r>
            <a:endParaRPr lang="en-US" sz="1400" dirty="0"/>
          </a:p>
        </p:txBody>
      </p:sp>
      <p:sp>
        <p:nvSpPr>
          <p:cNvPr id="23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4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INTEGRITY // P1/P2 INPUT MUST NOT DRIFT</a:t>
            </a:r>
            <a:endParaRPr lang="en-US" sz="1200" dirty="0"/>
          </a:p>
        </p:txBody>
      </p:sp>
      <p:sp>
        <p:nvSpPr>
          <p:cNvPr id="25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sys"/>
          <p:cNvSpPr/>
          <p:nvPr/>
        </p:nvSpPr>
        <p:spPr>
          <a:xfrm>
            <a:off x="1016000" y="533400"/>
            <a:ext cx="533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AGENT // PRIORITY / SAFE ITERATION</a:t>
            </a:r>
            <a:endParaRPr lang="en-US" sz="1200" dirty="0"/>
          </a:p>
        </p:txBody>
      </p:sp>
      <p:sp>
        <p:nvSpPr>
          <p:cNvPr id="3" name="header-rule"/>
          <p:cNvSpPr/>
          <p:nvPr/>
        </p:nvSpPr>
        <p:spPr>
          <a:xfrm>
            <a:off x="1016000" y="9398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4" name="slide-index"/>
          <p:cNvSpPr/>
          <p:nvPr/>
        </p:nvSpPr>
        <p:spPr>
          <a:xfrm>
            <a:off x="1016000" y="14224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 // NEXT</a:t>
            </a:r>
            <a:endParaRPr lang="en-US" sz="12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803400"/>
            <a:ext cx="1168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第一轮工作应先消除回归风险</a:t>
            </a:r>
            <a:endParaRPr lang="en-US" sz="3400" dirty="0"/>
          </a:p>
        </p:txBody>
      </p:sp>
      <p:sp>
        <p:nvSpPr>
          <p:cNvPr id="6" name="thesis"/>
          <p:cNvSpPr/>
          <p:nvPr/>
        </p:nvSpPr>
        <p:spPr>
          <a:xfrm>
            <a:off x="1016000" y="2603500"/>
            <a:ext cx="1079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先验证真正的 P1/P2 输入，再拆开状态边界；新的内容必须建立在可恢复、可测试的会话之上。</a:t>
            </a:r>
            <a:endParaRPr lang="en-US" sz="1800" dirty="0"/>
          </a:p>
        </p:txBody>
      </p:sp>
      <p:sp>
        <p:nvSpPr>
          <p:cNvPr id="7" name="priority-rule-a"/>
          <p:cNvSpPr/>
          <p:nvPr/>
        </p:nvSpPr>
        <p:spPr>
          <a:xfrm>
            <a:off x="5397500" y="3403600"/>
            <a:ext cx="9144" cy="2997200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8" name="priority-rule-b"/>
          <p:cNvSpPr/>
          <p:nvPr/>
        </p:nvSpPr>
        <p:spPr>
          <a:xfrm>
            <a:off x="10350500" y="3403600"/>
            <a:ext cx="9144" cy="2997200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9" name="p0-kicker"/>
          <p:cNvSpPr/>
          <p:nvPr/>
        </p:nvSpPr>
        <p:spPr>
          <a:xfrm>
            <a:off x="1016000" y="3556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53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P0 // PROTECT</a:t>
            </a:r>
            <a:endParaRPr lang="en-US" sz="1300" dirty="0"/>
          </a:p>
        </p:txBody>
      </p:sp>
      <p:sp>
        <p:nvSpPr>
          <p:cNvPr id="10" name="p0-line"/>
          <p:cNvSpPr/>
          <p:nvPr/>
        </p:nvSpPr>
        <p:spPr>
          <a:xfrm>
            <a:off x="1016000" y="4038600"/>
            <a:ext cx="2032000" cy="9144"/>
          </a:xfrm>
          <a:prstGeom prst="line">
            <a:avLst/>
          </a:prstGeom>
          <a:ln w="25400">
            <a:solidFill>
              <a:srgbClr val="E53E3E"/>
            </a:solidFill>
            <a:prstDash val="solid"/>
          </a:ln>
        </p:spPr>
      </p:sp>
      <p:sp>
        <p:nvSpPr>
          <p:cNvPr id="11" name="p0-title"/>
          <p:cNvSpPr/>
          <p:nvPr/>
        </p:nvSpPr>
        <p:spPr>
          <a:xfrm>
            <a:off x="1016000" y="4419600"/>
            <a:ext cx="36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输入回归脚本</a:t>
            </a:r>
            <a:endParaRPr lang="en-US" sz="2200" dirty="0"/>
          </a:p>
        </p:txBody>
      </p:sp>
      <p:sp>
        <p:nvSpPr>
          <p:cNvPr id="12" name="p0-copy"/>
          <p:cNvSpPr/>
          <p:nvPr/>
        </p:nvSpPr>
        <p:spPr>
          <a:xfrm>
            <a:off x="1016000" y="5041900"/>
            <a:ext cx="3683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覆盖 P1/P2、焦点切换、重连、退出确认和续行。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截图不能替代浏览器级真实键盘事件。</a:t>
            </a:r>
            <a:endParaRPr lang="en-US" sz="1600" dirty="0"/>
          </a:p>
        </p:txBody>
      </p:sp>
      <p:sp>
        <p:nvSpPr>
          <p:cNvPr id="13" name="p1-kicker"/>
          <p:cNvSpPr/>
          <p:nvPr/>
        </p:nvSpPr>
        <p:spPr>
          <a:xfrm>
            <a:off x="5905500" y="3556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F4F6F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P1 // STABILIZE</a:t>
            </a:r>
            <a:endParaRPr lang="en-US" sz="1300" dirty="0"/>
          </a:p>
        </p:txBody>
      </p:sp>
      <p:sp>
        <p:nvSpPr>
          <p:cNvPr id="14" name="p1-line"/>
          <p:cNvSpPr/>
          <p:nvPr/>
        </p:nvSpPr>
        <p:spPr>
          <a:xfrm>
            <a:off x="5905500" y="4038600"/>
            <a:ext cx="2032000" cy="9144"/>
          </a:xfrm>
          <a:prstGeom prst="line">
            <a:avLst/>
          </a:prstGeom>
          <a:ln w="25400">
            <a:solidFill>
              <a:srgbClr val="F4F6F9"/>
            </a:solidFill>
            <a:prstDash val="solid"/>
          </a:ln>
        </p:spPr>
      </p:sp>
      <p:sp>
        <p:nvSpPr>
          <p:cNvPr id="15" name="p1-title"/>
          <p:cNvSpPr/>
          <p:nvPr/>
        </p:nvSpPr>
        <p:spPr>
          <a:xfrm>
            <a:off x="5905500" y="44196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提取可测试纯函数</a:t>
            </a:r>
            <a:endParaRPr lang="en-US" sz="2200" dirty="0"/>
          </a:p>
        </p:txBody>
      </p:sp>
      <p:sp>
        <p:nvSpPr>
          <p:cNvPr id="16" name="p1-copy"/>
          <p:cNvSpPr/>
          <p:nvPr/>
        </p:nvSpPr>
        <p:spPr>
          <a:xfrm>
            <a:off x="5905500" y="5041900"/>
            <a:ext cx="3810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优先拆配置、存储、状态和绘制计算。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保留单文件可独立运行，不做一次性大重构。</a:t>
            </a:r>
            <a:endParaRPr lang="en-US" sz="1600" dirty="0"/>
          </a:p>
        </p:txBody>
      </p:sp>
      <p:sp>
        <p:nvSpPr>
          <p:cNvPr id="17" name="p2-kicker"/>
          <p:cNvSpPr/>
          <p:nvPr/>
        </p:nvSpPr>
        <p:spPr>
          <a:xfrm>
            <a:off x="10795000" y="3556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D4AF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P2 // EXTEND</a:t>
            </a:r>
            <a:endParaRPr lang="en-US" sz="1300" dirty="0"/>
          </a:p>
        </p:txBody>
      </p:sp>
      <p:sp>
        <p:nvSpPr>
          <p:cNvPr id="18" name="p2-line"/>
          <p:cNvSpPr/>
          <p:nvPr/>
        </p:nvSpPr>
        <p:spPr>
          <a:xfrm>
            <a:off x="10795000" y="4038600"/>
            <a:ext cx="2032000" cy="9144"/>
          </a:xfrm>
          <a:prstGeom prst="line">
            <a:avLst/>
          </a:prstGeom>
          <a:ln w="25400">
            <a:solidFill>
              <a:srgbClr val="D4AF37"/>
            </a:solidFill>
            <a:prstDash val="solid"/>
          </a:ln>
        </p:spPr>
      </p:sp>
      <p:sp>
        <p:nvSpPr>
          <p:cNvPr id="19" name="p2-title"/>
          <p:cNvSpPr/>
          <p:nvPr/>
        </p:nvSpPr>
        <p:spPr>
          <a:xfrm>
            <a:off x="10795000" y="4419600"/>
            <a:ext cx="393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4F6F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迁移与协作体验</a:t>
            </a:r>
            <a:endParaRPr lang="en-US" sz="2200" dirty="0"/>
          </a:p>
        </p:txBody>
      </p:sp>
      <p:sp>
        <p:nvSpPr>
          <p:cNvPr id="20" name="p2-copy"/>
          <p:cNvSpPr/>
          <p:nvPr/>
        </p:nvSpPr>
        <p:spPr>
          <a:xfrm>
            <a:off x="10795000" y="5041900"/>
            <a:ext cx="3937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安全导入/导出本地存档、手柄映射、协作回放摘要。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8A9BAE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不改变默认键盘与本地双人约定。</a:t>
            </a:r>
            <a:endParaRPr lang="en-US" sz="1600" dirty="0"/>
          </a:p>
        </p:txBody>
      </p:sp>
      <p:sp>
        <p:nvSpPr>
          <p:cNvPr id="21" name="closure-left"/>
          <p:cNvSpPr/>
          <p:nvPr/>
        </p:nvSpPr>
        <p:spPr>
          <a:xfrm>
            <a:off x="6350000" y="7302500"/>
            <a:ext cx="14732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2" name="closure-right"/>
          <p:cNvSpPr/>
          <p:nvPr/>
        </p:nvSpPr>
        <p:spPr>
          <a:xfrm>
            <a:off x="8432800" y="7302500"/>
            <a:ext cx="1473200" cy="9144"/>
          </a:xfrm>
          <a:prstGeom prst="line">
            <a:avLst/>
          </a:prstGeom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3" name="closure-point"/>
          <p:cNvSpPr/>
          <p:nvPr/>
        </p:nvSpPr>
        <p:spPr>
          <a:xfrm>
            <a:off x="8077200" y="7251700"/>
            <a:ext cx="101600" cy="101600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24" name="closure-copy"/>
          <p:cNvSpPr/>
          <p:nvPr/>
        </p:nvSpPr>
        <p:spPr>
          <a:xfrm>
            <a:off x="4635500" y="7708900"/>
            <a:ext cx="698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AGENT // CHANGE ONE RISK SLICE, VERIFY, THEN SAVE</a:t>
            </a:r>
            <a:endParaRPr lang="en-US" sz="1200" dirty="0"/>
          </a:p>
        </p:txBody>
      </p:sp>
      <p:sp>
        <p:nvSpPr>
          <p:cNvPr id="25" name="footer-rule"/>
          <p:cNvSpPr/>
          <p:nvPr/>
        </p:nvSpPr>
        <p:spPr>
          <a:xfrm>
            <a:off x="1016000" y="8407400"/>
            <a:ext cx="14224000" cy="9144"/>
          </a:xfrm>
          <a:prstGeom prst="line">
            <a:avLst/>
          </a:prstGeom>
          <a:ln w="12700">
            <a:solidFill>
              <a:srgbClr val="1A202C"/>
            </a:solidFill>
            <a:prstDash val="solid"/>
          </a:ln>
        </p:spPr>
      </p:sp>
      <p:sp>
        <p:nvSpPr>
          <p:cNvPr id="26" name="footer-build"/>
          <p:cNvSpPr/>
          <p:nvPr/>
        </p:nvSpPr>
        <p:spPr>
          <a:xfrm>
            <a:off x="1016000" y="86360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HANDOVER // READY FOR CONTROLLED ITERATION</a:t>
            </a:r>
            <a:endParaRPr lang="en-US" sz="1200" dirty="0"/>
          </a:p>
        </p:txBody>
      </p:sp>
      <p:sp>
        <p:nvSpPr>
          <p:cNvPr id="27" name="footer-page"/>
          <p:cNvSpPr/>
          <p:nvPr/>
        </p:nvSpPr>
        <p:spPr>
          <a:xfrm>
            <a:off x="14605000" y="8636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8A9B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《回声》Sonar：后续开发代理技术交接</dc:title>
  <dc:subject>《回声》Sonar：后续开发代理技术交接</dc:subject>
  <dc:creator>Manus</dc:creator>
  <cp:lastModifiedBy>Manus</cp:lastModifiedBy>
  <cp:revision>1</cp:revision>
  <dcterms:created xsi:type="dcterms:W3CDTF">2026-08-27T06:26:42Z</dcterms:created>
  <dcterms:modified xsi:type="dcterms:W3CDTF">2026-08-27T06:26:42Z</dcterms:modified>
</cp:coreProperties>
</file>